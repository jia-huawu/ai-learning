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8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6" r:id="rId4"/>
    <p:sldId id="257" r:id="rId5"/>
    <p:sldId id="259" r:id="rId6"/>
    <p:sldId id="262" r:id="rId7"/>
    <p:sldId id="263" r:id="rId8"/>
    <p:sldId id="264" r:id="rId9"/>
    <p:sldId id="265" r:id="rId10"/>
    <p:sldId id="266" r:id="rId11"/>
    <p:sldId id="260" r:id="rId12"/>
    <p:sldId id="261" r:id="rId13"/>
    <p:sldId id="267" r:id="rId14"/>
    <p:sldId id="269" r:id="rId15"/>
    <p:sldId id="270" r:id="rId16"/>
    <p:sldId id="268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c8f60914-05c1-432d-8b32-f8172f0a2f78}">
          <p14:sldIdLst>
            <p14:sldId id="258"/>
            <p14:sldId id="256"/>
            <p14:sldId id="257"/>
            <p14:sldId id="259"/>
            <p14:sldId id="262"/>
            <p14:sldId id="263"/>
            <p14:sldId id="264"/>
            <p14:sldId id="265"/>
            <p14:sldId id="266"/>
            <p14:sldId id="260"/>
            <p14:sldId id="261"/>
            <p14:sldId id="267"/>
            <p14:sldId id="269"/>
            <p14:sldId id="270"/>
            <p14:sldId id="268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ustomXml" Target="../customXml/item1.xml"/><Relationship Id="rId25" Type="http://schemas.openxmlformats.org/officeDocument/2006/relationships/customXmlProps" Target="../customXml/itemProps83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4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1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9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14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4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6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7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9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1.xml"/><Relationship Id="rId1" Type="http://schemas.openxmlformats.org/officeDocument/2006/relationships/image" Target="../media/image3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I"/>
          <p:cNvPicPr>
            <a:picLocks noChangeAspect="1"/>
          </p:cNvPicPr>
          <p:nvPr/>
        </p:nvPicPr>
        <p:blipFill>
          <a:blip r:embed="rId1"/>
          <a:srcRect r="39595"/>
          <a:stretch>
            <a:fillRect/>
          </a:stretch>
        </p:blipFill>
        <p:spPr>
          <a:xfrm>
            <a:off x="0" y="0"/>
            <a:ext cx="2764790" cy="68573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453130" y="2893695"/>
            <a:ext cx="8157210" cy="971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366385" y="929640"/>
            <a:ext cx="38404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机器</a:t>
            </a:r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学习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67350" y="2186940"/>
            <a:ext cx="363855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Machine Learning</a:t>
            </a:r>
            <a:endParaRPr lang="en-US" altLang="zh-CN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37785" y="3300095"/>
            <a:ext cx="42976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5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线性回归</a:t>
            </a:r>
            <a:r>
              <a:rPr lang="zh-CN" altLang="en-US" sz="5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模型</a:t>
            </a:r>
            <a:endParaRPr lang="zh-CN" altLang="en-US" sz="5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98160" y="4465955"/>
            <a:ext cx="3376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/>
              <a:t>Linear Regression</a:t>
            </a:r>
            <a:endParaRPr lang="en-US" altLang="zh-CN" sz="2400"/>
          </a:p>
        </p:txBody>
      </p:sp>
      <p:sp>
        <p:nvSpPr>
          <p:cNvPr id="11" name="矩形 10"/>
          <p:cNvSpPr/>
          <p:nvPr/>
        </p:nvSpPr>
        <p:spPr>
          <a:xfrm>
            <a:off x="10282555" y="6356985"/>
            <a:ext cx="17830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主讲人：钾化钨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卡通人物合集"/>
          <p:cNvPicPr>
            <a:picLocks noChangeAspect="1"/>
          </p:cNvPicPr>
          <p:nvPr/>
        </p:nvPicPr>
        <p:blipFill>
          <a:blip r:embed="rId1"/>
          <a:srcRect r="63811"/>
          <a:stretch>
            <a:fillRect/>
          </a:stretch>
        </p:blipFill>
        <p:spPr>
          <a:xfrm>
            <a:off x="0" y="2545080"/>
            <a:ext cx="2068195" cy="3810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755140" y="542925"/>
            <a:ext cx="2118360" cy="1986280"/>
            <a:chOff x="1371" y="2420"/>
            <a:chExt cx="3336" cy="3128"/>
          </a:xfrm>
        </p:grpSpPr>
        <p:sp>
          <p:nvSpPr>
            <p:cNvPr id="6" name="云形标注 5"/>
            <p:cNvSpPr/>
            <p:nvPr/>
          </p:nvSpPr>
          <p:spPr>
            <a:xfrm>
              <a:off x="1371" y="2420"/>
              <a:ext cx="3337" cy="3128"/>
            </a:xfrm>
            <a:prstGeom prst="cloudCallout">
              <a:avLst>
                <a:gd name="adj1" fmla="val -42705"/>
                <a:gd name="adj2" fmla="val 71383"/>
              </a:avLst>
            </a:prstGeom>
            <a:solidFill>
              <a:srgbClr val="F6F6F6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5" name="图片 4" descr="房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3" y="2843"/>
              <a:ext cx="1920" cy="2057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8724265" y="1284605"/>
            <a:ext cx="1954530" cy="1201420"/>
            <a:chOff x="14448" y="3656"/>
            <a:chExt cx="3078" cy="1892"/>
          </a:xfrm>
        </p:grpSpPr>
        <p:sp>
          <p:nvSpPr>
            <p:cNvPr id="8" name="圆角矩形标注 7"/>
            <p:cNvSpPr/>
            <p:nvPr/>
          </p:nvSpPr>
          <p:spPr>
            <a:xfrm>
              <a:off x="14448" y="3656"/>
              <a:ext cx="3079" cy="1892"/>
            </a:xfrm>
            <a:prstGeom prst="wedgeRoundRectCallout">
              <a:avLst>
                <a:gd name="adj1" fmla="val 33923"/>
                <a:gd name="adj2" fmla="val 83456"/>
                <a:gd name="adj3" fmla="val 16667"/>
              </a:avLst>
            </a:prstGeom>
            <a:solidFill>
              <a:srgbClr val="F6F6F6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" name="图片 8" descr="钱袋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89" y="3698"/>
              <a:ext cx="1798" cy="1798"/>
            </a:xfrm>
            <a:prstGeom prst="rect">
              <a:avLst/>
            </a:prstGeom>
          </p:spPr>
        </p:pic>
      </p:grpSp>
      <p:pic>
        <p:nvPicPr>
          <p:cNvPr id="13" name="图片 12" descr="卡通人物合集"/>
          <p:cNvPicPr>
            <a:picLocks noChangeAspect="1"/>
          </p:cNvPicPr>
          <p:nvPr/>
        </p:nvPicPr>
        <p:blipFill>
          <a:blip r:embed="rId1"/>
          <a:srcRect l="37200" r="38733"/>
          <a:stretch>
            <a:fillRect/>
          </a:stretch>
        </p:blipFill>
        <p:spPr>
          <a:xfrm>
            <a:off x="10603230" y="2529205"/>
            <a:ext cx="1375410" cy="381000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1744345" y="555625"/>
            <a:ext cx="2118360" cy="1986280"/>
            <a:chOff x="6450" y="4577"/>
            <a:chExt cx="3336" cy="3128"/>
          </a:xfrm>
        </p:grpSpPr>
        <p:sp>
          <p:nvSpPr>
            <p:cNvPr id="16" name="云形标注 15"/>
            <p:cNvSpPr/>
            <p:nvPr/>
          </p:nvSpPr>
          <p:spPr>
            <a:xfrm>
              <a:off x="6450" y="4577"/>
              <a:ext cx="3337" cy="3128"/>
            </a:xfrm>
            <a:prstGeom prst="cloudCallout">
              <a:avLst>
                <a:gd name="adj1" fmla="val -42705"/>
                <a:gd name="adj2" fmla="val 71383"/>
              </a:avLst>
            </a:prstGeom>
            <a:solidFill>
              <a:srgbClr val="FFFFF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8" name="图片 17" descr="问号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07" y="5235"/>
              <a:ext cx="1623" cy="1811"/>
            </a:xfrm>
            <a:prstGeom prst="rect">
              <a:avLst/>
            </a:prstGeom>
          </p:spPr>
        </p:pic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7170" y="973455"/>
            <a:ext cx="3795395" cy="509841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118610" y="2663825"/>
            <a:ext cx="3658235" cy="51371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标注 2"/>
          <p:cNvSpPr/>
          <p:nvPr/>
        </p:nvSpPr>
        <p:spPr>
          <a:xfrm>
            <a:off x="9137015" y="3871595"/>
            <a:ext cx="1136015" cy="633095"/>
          </a:xfrm>
          <a:prstGeom prst="wedgeRoundRectCallout">
            <a:avLst>
              <a:gd name="adj1" fmla="val 63806"/>
              <a:gd name="adj2" fmla="val -111685"/>
              <a:gd name="adj3" fmla="val 16667"/>
            </a:avLst>
          </a:prstGeom>
          <a:solidFill>
            <a:srgbClr val="F6F6F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145</a:t>
            </a:r>
            <a:r>
              <a:rPr lang="zh-CN" altLang="en-US" sz="2800">
                <a:solidFill>
                  <a:schemeClr val="tx1"/>
                </a:solidFill>
              </a:rPr>
              <a:t>？</a:t>
            </a:r>
            <a:endParaRPr lang="zh-CN" altLang="en-US" sz="2800"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375 0.00314815 L 0.000572917 0.311852 " pathEditMode="relative" rAng="0" ptsTypes="">
                                      <p:cBhvr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" y="1191260"/>
            <a:ext cx="3795395" cy="50984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5" y="767080"/>
            <a:ext cx="8239125" cy="532447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5210810" y="1091565"/>
            <a:ext cx="5820410" cy="43789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285" y="1191260"/>
            <a:ext cx="2962275" cy="16097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115060"/>
            <a:ext cx="7772400" cy="530542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V="1">
            <a:off x="1431925" y="1463040"/>
            <a:ext cx="5809615" cy="43135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26212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线性回归模型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2495" y="583565"/>
            <a:ext cx="47548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如何评价结果的好坏？</a:t>
            </a:r>
            <a:endParaRPr lang="zh-CN" altLang="en-US" sz="3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090" y="1645920"/>
            <a:ext cx="7388225" cy="477456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1366520" y="1790700"/>
            <a:ext cx="4804410" cy="35877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599998" y="1790700"/>
            <a:ext cx="295973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均方误差</a:t>
            </a:r>
            <a:r>
              <a:rPr lang="en-US" altLang="zh-CN" sz="3200" b="1"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(MSE)</a:t>
            </a:r>
            <a:endParaRPr lang="en-US" altLang="zh-CN" sz="3200" b="1"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315" y="2374265"/>
            <a:ext cx="4603750" cy="174625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 flipH="1">
            <a:off x="1366520" y="2150110"/>
            <a:ext cx="5222240" cy="390017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76375"/>
            <a:ext cx="7209155" cy="465963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116840"/>
            <a:ext cx="5689600" cy="418147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1150620" y="1600200"/>
            <a:ext cx="4886325" cy="364553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1150620" y="1725295"/>
            <a:ext cx="5132070" cy="382905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1150620" y="1965960"/>
            <a:ext cx="5132070" cy="382905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103120" cy="7188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损失函数</a:t>
            </a:r>
            <a:endParaRPr lang="zh-C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05840" y="718820"/>
            <a:ext cx="66852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我们先假设原函数是一过原点的直线</a:t>
            </a:r>
            <a:endParaRPr lang="zh-CN" altLang="en-US" sz="3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99490" y="1432560"/>
            <a:ext cx="7545070" cy="4875530"/>
            <a:chOff x="164" y="2256"/>
            <a:chExt cx="11882" cy="767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4" y="2256"/>
              <a:ext cx="11882" cy="7679"/>
            </a:xfrm>
            <a:prstGeom prst="rect">
              <a:avLst/>
            </a:prstGeom>
          </p:spPr>
        </p:pic>
        <p:cxnSp>
          <p:nvCxnSpPr>
            <p:cNvPr id="9" name="直接连接符 8"/>
            <p:cNvCxnSpPr/>
            <p:nvPr/>
          </p:nvCxnSpPr>
          <p:spPr>
            <a:xfrm flipH="1">
              <a:off x="1978" y="2724"/>
              <a:ext cx="8394" cy="6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1" y="2868"/>
              <a:ext cx="4272" cy="2322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" y="1237615"/>
            <a:ext cx="6773545" cy="50380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455" y="1530350"/>
            <a:ext cx="1409700" cy="10001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" y="124460"/>
            <a:ext cx="8211185" cy="610806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 flipV="1">
            <a:off x="2808605" y="4075430"/>
            <a:ext cx="0" cy="1737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037590" y="4064000"/>
            <a:ext cx="17824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2706370" y="3961765"/>
            <a:ext cx="204470" cy="2044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3001645" y="4234180"/>
            <a:ext cx="681355" cy="6813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263255" y="1080770"/>
            <a:ext cx="3840480" cy="15684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怎么用数据表示</a:t>
            </a:r>
            <a:r>
              <a:rPr lang="en-US" altLang="zh-CN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蓝点往哪个方向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走？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走多少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呢？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" y="124460"/>
            <a:ext cx="8211185" cy="610806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 flipV="1">
            <a:off x="2808605" y="4075430"/>
            <a:ext cx="0" cy="1737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037590" y="4064000"/>
            <a:ext cx="17824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2706370" y="3961765"/>
            <a:ext cx="204470" cy="2044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432560" y="2174875"/>
            <a:ext cx="2430145" cy="34283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380" y="441325"/>
            <a:ext cx="3276600" cy="17335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0"/>
            <a:ext cx="12078335" cy="21329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035" y="91440"/>
            <a:ext cx="12192000" cy="19500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5" y="3040380"/>
            <a:ext cx="9139555" cy="21615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63195" y="1818640"/>
            <a:ext cx="5932805" cy="4413250"/>
            <a:chOff x="257" y="196"/>
            <a:chExt cx="12930" cy="9618"/>
          </a:xfrm>
        </p:grpSpPr>
        <p:grpSp>
          <p:nvGrpSpPr>
            <p:cNvPr id="8" name="组合 7"/>
            <p:cNvGrpSpPr/>
            <p:nvPr/>
          </p:nvGrpSpPr>
          <p:grpSpPr>
            <a:xfrm>
              <a:off x="257" y="196"/>
              <a:ext cx="12930" cy="9618"/>
              <a:chOff x="257" y="196"/>
              <a:chExt cx="12930" cy="9618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57" y="196"/>
                <a:ext cx="12931" cy="9619"/>
              </a:xfrm>
              <a:prstGeom prst="rect">
                <a:avLst/>
              </a:prstGeom>
            </p:spPr>
          </p:pic>
          <p:cxnSp>
            <p:nvCxnSpPr>
              <p:cNvPr id="3" name="直接连接符 2"/>
              <p:cNvCxnSpPr/>
              <p:nvPr/>
            </p:nvCxnSpPr>
            <p:spPr>
              <a:xfrm flipV="1">
                <a:off x="4423" y="6418"/>
                <a:ext cx="0" cy="27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 flipH="1">
                <a:off x="1634" y="6400"/>
                <a:ext cx="280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" name="椭圆 5"/>
              <p:cNvSpPr/>
              <p:nvPr/>
            </p:nvSpPr>
            <p:spPr>
              <a:xfrm>
                <a:off x="4262" y="6239"/>
                <a:ext cx="322" cy="322"/>
              </a:xfrm>
              <a:prstGeom prst="ellips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2256" y="3425"/>
              <a:ext cx="3827" cy="53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85" y="0"/>
            <a:ext cx="3901440" cy="1892300"/>
          </a:xfrm>
          <a:prstGeom prst="rect">
            <a:avLst/>
          </a:prstGeom>
        </p:spPr>
      </p:pic>
      <p:pic>
        <p:nvPicPr>
          <p:cNvPr id="13" name="ECB019B1-382A-4266-B25C-5B523AA43C14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260" y="307340"/>
            <a:ext cx="5986145" cy="56222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" y="154305"/>
            <a:ext cx="3848100" cy="10763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" y="1298575"/>
            <a:ext cx="8210550" cy="1876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3086735"/>
            <a:ext cx="3619500" cy="1933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2235" y="4581525"/>
            <a:ext cx="3352800" cy="17145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42468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房价可不止与面积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有关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6780" y="583565"/>
            <a:ext cx="1037844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房价取决于：面积、最近的学校的距离、最近的地铁站的距离</a:t>
            </a:r>
            <a:r>
              <a:rPr lang="en-US" altLang="zh-CN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......</a:t>
            </a:r>
            <a:endParaRPr lang="en-US" altLang="zh-CN"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042670" y="1551940"/>
          <a:ext cx="10246360" cy="915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590"/>
                <a:gridCol w="2561590"/>
                <a:gridCol w="2561590"/>
                <a:gridCol w="2561590"/>
              </a:tblGrid>
              <a:tr h="457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含义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面积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最近的学校的距离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最近的地铁站距离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57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70" y="2847975"/>
            <a:ext cx="4781550" cy="1162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670" y="4390390"/>
            <a:ext cx="4270375" cy="14008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6850"/>
            <a:ext cx="4270375" cy="14008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5" y="1480185"/>
            <a:ext cx="7462520" cy="11118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" y="2908935"/>
            <a:ext cx="7905750" cy="22002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" y="459105"/>
            <a:ext cx="3790950" cy="2647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605" y="130175"/>
            <a:ext cx="5502275" cy="61956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9375"/>
            <a:ext cx="8439150" cy="5781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355" y="1430020"/>
            <a:ext cx="6219825" cy="48482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30276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对于曲线的情况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749935"/>
            <a:ext cx="6143625" cy="1143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838325"/>
            <a:ext cx="5461000" cy="4164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 descr="思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050" y="3137535"/>
            <a:ext cx="3282950" cy="32829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42468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如何确定直线的最高项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4505" y="1414780"/>
            <a:ext cx="7815580" cy="10763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l"/>
            <a:r>
              <a:rPr lang="en-US" altLang="zh-CN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，通过可视化</a:t>
            </a:r>
            <a:r>
              <a:rPr lang="en-US" altLang="zh-CN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与</a:t>
            </a:r>
            <a:r>
              <a:rPr lang="en-US" altLang="zh-CN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y 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的关系，猜测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最高项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，不停的尝试最高项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取值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420485"/>
            <a:ext cx="12192000" cy="4375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github</a:t>
            </a:r>
            <a:r>
              <a:rPr lang="zh-CN" altLang="en-US">
                <a:solidFill>
                  <a:schemeClr val="tx1"/>
                </a:solidFill>
              </a:rPr>
              <a:t>仓库网站：</a:t>
            </a:r>
            <a:r>
              <a:rPr lang="en-US" altLang="zh-CN">
                <a:solidFill>
                  <a:schemeClr val="tx1"/>
                </a:solidFill>
              </a:rPr>
              <a:t>https://github.com/Jia-HuaWu/AI-Learning                                                                       </a:t>
            </a:r>
            <a:r>
              <a:rPr lang="zh-CN" altLang="en-US">
                <a:solidFill>
                  <a:schemeClr val="tx1"/>
                </a:solidFill>
              </a:rPr>
              <a:t>线性回归模型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32960" y="131445"/>
            <a:ext cx="29260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恭喜！</a:t>
            </a:r>
            <a:endParaRPr lang="zh-CN" altLang="en-US" sz="7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46960" y="1551940"/>
            <a:ext cx="74980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你已经学会了如何实现一个线性回归</a:t>
            </a:r>
            <a:r>
              <a:rPr lang="zh-CN" altLang="en-US" sz="3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模型</a:t>
            </a:r>
            <a:endParaRPr lang="zh-CN" altLang="en-US" sz="3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46530" y="2294890"/>
            <a:ext cx="91236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下节课，我们将学习：线性回归中可能遇到的问题</a:t>
            </a:r>
            <a:endParaRPr lang="zh-CN" altLang="en-US" sz="3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TABLE_ENDDRAG_ORIGIN_RECT" val="806*72"/>
  <p:tag name="TABLE_ENDDRAG_RECT" val="82*122*806*72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DY1MTY2MTg2Mjc3IiwKCSJHcm91cElkIiA6ICI3OTEyNjA2NzEiLAoJIkltYWdlIiA6ICJpVkJPUncwS0dnb0FBQUFOU1VoRVVnQUFBYndBQUFHaENBWUFBQUFhK0FHYUFBQUFBWE5TUjBJQXJzNGM2UUFBSUFCSlJFRlVlSnpzM1hsY0ZQWC9CL0RYWjNZWGtFdEVVRVJTTEpCRHdKMUJ5enlJTEkvdXNyd3QrNXJscmFWMm1HWDl6RkxMbzd5UE1rc3pUZE95TlBNQXIxSTBkbFpVUkVWRFEwUUY1VnBZWUhjL3Z6K0FqZVZRTkpZRjkvMThQSHc4Mk5uUHpMeDNaWG50NXpNem53RUlJWVFRUWdnaGhCQkNDQ0dFRUVJSUlZUVFRZ2doaEJCQ0NDR0VFRUlJSVlRUVFnZ2hoQkJDQ0NHRUVFSUlJWVFRUWdnaGhCQkNDQ0dFRUVJSUlZUVFRZ2doaEJCQ0NDR0VFRUlJSVlRUVFnZ2hoQkJDQ0NHRUVFSUlJWVFRUWdnaGhCQkNDQ0dFMUNabTZ3SUlJU1ZhQjRhRk1JVWlpbkVXd1JuM1lReU5PV2NLVzlkRjdsNk1jU1BueUdhY3BYUEdqOEZrMnA5eTVuaVNyZXV5RmdvOFFtd3FVdVVmVkR5Y01UWUtqSVVEZ0l1ek0zeGIrTUM5c1R1VUNzbzdZajBHb3hIWjJUbTRmRGtkdXZ4OEFBRG5TRENCTDc2WWRHd1ZBSU90YTZ4TkZIaUUySWgvWU1RRFVMQjFqTEY3dzl1RjRxa25lcU5ibHdjUkZCaGc2OUtJSFRwOUpoa0gvdmdUdjJ6L0hjZFBKZ0pBTWplWWhxU2NUWWl6ZFcyMWhRS1BFQnRvSGFJZUl3RHptemR2cHByMnpwdm8zZk1STUVZZlIySjduSFA4dG5NM3BzLzhERmV2WGlzMkFXOWNPS1ZkYk91NmFnT05seEJTeDFvSHFhY0tESE82ZHU2aytHN1Zjb1NIaFZMWWtYcURNWWJBZ1B2dy9MTlA0Y1RKVTRyVTFFdVBlM2cxTDh6S3VITFExclg5VnhSNGhOUWgvNkQySXdXQnpYdnlzVjVZL01VY3VEZzcyN29rUXFyVXlNa0pUejNlRzMrbnBPRHN1Zk9QTnZIeVNjdktTTmZZdXE3L2dyNVdFbEpIL0FNakhtQks0VUJVMTg2cVZjc1dRaEFFVzVkRXlDMFpqVWE4TW1vODloLzhvNGdiZUZSRFBxWkhnVWRJSGZEMzkzZGlqUm9udFBUMURkeTJaUVBjM2R4c1hSSWhOWmFUbTR2SG4rMkhTMm1YVDBPZnJVNUpTZEhidXFZN1FWOHhDYWtMVG8wL0FGamd4eCsrUjJGSEdoeDNOemQ4OU1GVU1NYUM0T1F4emRiMTNDa0tQRUtzekxkdFd5OHdqT3ZSUFJwUlhUdmJ1aHhDN3NqRFVWM1JQVG9LalBGeExZT0RtOXE2bmp0QmdVZUlsVG13UnBNWm1NdTQwYS9adWhSQy9wTUpZMFlDWUs0T2NKcG82MXJ1QkFVZUlWYmsxNjZkSnhNd3VudDBGTUpDUTJ4ZERpSC9TWGk3RUVSSGRRWEF4N1ZxRmQ3RTF2WGNMZ284UXF4SWFWQU1BWmpidUZIVXV5TjNoN0VqWHdVWWMyUE93bUJiMTNLN0tQQUlzU1ltOUFrTkRrTDc4SGEycm9TUVdpR3BJeERVTmhBTTZHUHJXbTRYQlI0aFZ0TDh2b2htQUxyMmZMUzdyVXNocEZiMTZCNE5nRVg1dG0zclpldGFiZ2NGSGlGVzBrakZubU1NaWtjZmZzaldwUkJTcTNvOEVnM0dvRkRCNlZsYjEzSTdLUEFJc1JMRzJGTytMWHdRRXR6VzFxVVFVcXZDUWtQUXdxYzVCSUU5YmV0YWJnY0ZIaUZXd2puRSt6dEUwc1RRNUs3REdFUEhTQWxnVU51Nmx0dEJnVWVJRmZqN3F6MFlnMi9iZ1B0c1hRb2hWdEUyOEQ0QTdCN1BnQUIzVzlkU1V4UjRoRmlCeVlHSEFVQmdvSDBHWGs1T2pxMUxxQmVNUmlNTWhydnFwdUZtZ2ZlVi9HNjdLWjNDYkYxTFRWSGdFV0lGQWtNWUFOU1hIdDZSSTBkdzdOaXgyMXJIYURUaWlTZWVnRjV2T1Uvd24zLytpVmRmZmJYYTlVd21FL3IxNjRmRGh3OERBSktUazlHOXUrM1BWRjI5ZWpWME9wMzVjV3hzTEdSWnJ0VHUrUEhqbURpeDVoT0o3TjI3RjhYRnhmajk5OS94OGNjZkF3QisvLzEzNlBWNjdOKy9INis5ZG5kZWc5bTI5TXVjQUdXRHVlWkdhZXNDQ0xrYk1RRXRIVlFxK0xYMHRYVXBBQUNkVG9kNTgrWmgzYnAxRUFRQjMzenpEWXFMaTZ0c08yVElFRGc1T2VIS2xTc3dHbzF3Y25LeWVIN1ZxbFY0NXBsbkFBQnBhV253OWJWOGpVZVBIb1dqb3lQdXYvLytLcmZQT2NmT25UdlJvMGVQV3I5RlVseGNITDc0NGd1c1hyMGFYMy85TmI3Nzdqc29sVXA0ZVhraE1qSVN2LzMyRzVSS0pmNzY2eThjUDM0Y3JWcTFRdVBHalFFQVE0Y09SV0JnWUtWdFRwOCtIYi8rK3F1NVZvUEJnQVVMRnFCejU1SjVVZi80NHc5b3RWcUVoSlRNcExOMzcxNTg4ODAzZVBqaGh4RVhGd2RKa201YTg0a1RKekIrL0hqODl0dHZNQmdNbUQxN05tSmlZdURnNElEbm4zOGVvMGVQeHZYcjEvRy8vLzBQQ3hZc2dMKy9mNjIrWjNmcUhyK1dVS21VS0NvcTlyTjFMVFZGUFR4Q3JJQnp1THU1dWRXTEUxYk9uVHNIWDE5ZmRPclVDVWxKU1JhOW5LVkxseUkvUDkvaWNYRnhNUklURXhFVEV3TVBEdy9FeGNVaExpNE9ScU1SUjQ4ZWhVNm53eE5QUElHOHZEd01HellNNmVucEZ2dGJzMllOQmd3WVVHMllMVjI2RkFzWExxejFZYy9Dd2tKOCtPR0grT0NERCtEZzRBQUFHRDkrUE41Ly8zM2NkOTk5aUlxS3d1N2R1OUdwVXlmY2YvLzk4UEh4d2RpeFkvSGlpeS9peFJkZlJQUG16WkdibTR2OC9Id1lEQWJrNXVhaXFLZ0lBREIyN0ZnY1Bud1lodzhmUm9jT0hTejJPMkhDQkxSczJkTDhPQzB0RFo5Kytpa2NIQndRRnhlSDdPeHNiTnEweWZ6djZ0V3JGdXV2WDc4ZXp6MzNIQndkSFRGejVreGN1M1lOdi83Nks1WXVYWXBObXpaaHk1WXRhTnEwS2NhTkc0ZHAwK3JQalFvRVFZQ3JpeXZBZUlNNWhrYzlQRUtzdzkzWnVaR3Rhd0FBZlBYVlYrWncrZjc3NzdGbzBTSU1IVG9VUnFNUlM1Y3V4Y3N2dnd4M2QzZVlUQ1lzWGJvVUtwVUtNVEV4aUkyTkJRQnMyTEFCQnc4ZVJFeE1ET2JPbllzcFU2YVUvTEZ6ZGNXUUlVTXdmLzU4eko0OUd5Z2REangwNkJEZWV1dXRLbXZadW5Vck5tellnRldyVnNIRHc2TldYK2N2di95Q29LQWdCQVVGV1N3L2V2UW91blRwZ2c0ZE9pQThQQnl1cnE3WXVYTW5XclJvZ1pTVUZBQkFZR0FnTWpNejhmNzc3eU1uSndmWjJka1lOV29VK3ZmdmY5TjlKaVFrNE1NUFB3UktlOUY2dlI1Tm16YkZwazJiTUdyVUtOeTRjUU1lSGg2NGN1VUs5dTNiaCtiTm02TlRwMDdtOVRNeU1oQWJHNHNmZi93Uk4yN2N3STRkTzdCdTNUcDRlSGpBdzhNREw3endBclp1M1lvK2ZmcmcwVWNmeGJKbHl4QVhGNGNISG5pZ1Z0KzdPK1hzM0FnM3NsaUR1ZDhWQlI0aFZzQUFOeGNYWjF1WEFRRDQ1Sk5QZ05KalZsbFpXZVlodHJMZVM5bVFaZGxqQndjSGpCMDdGcG1abWVqWXNTTjY5KzZOaHg5K0dGOTg4UVV1WGJxRVpjdVdJUzh2RDNsNWVkRHBkTWpLeXNLcFU2Y1FIQnlNdVhQbkFxV25yVmUwWWNNR0xGcTBDUFBtemNOOTkxVjliUFAxMTE5SDgrYk5NV1hLRktDME4vampqejlpMTY1ZFlJemgyTEZqR0Q5K1BQYnMyUU9sMHZMUFYyeHNMSHIxNmxWcG0vSHg4Umd3WUFEUzA5UGg3dTZPWGJ0MjRkQ2hRK2pZc1NQKy9QTlAvUFBQUCtqY3VUT0dEeCtPdFd2WFl2NzgrZmpubjM4d2I5NDhBS2p5T0YrWmlJZ0liTjY4R1Z1MmJNSHk1Y3ZSc21WTHZQamlpK2pkdXpjR0Rod0lBQmd6Wmd3QTRPVEprK2pidHkvOC9QNGRBZHk4ZVRPNmRPa0NIeDhmSERod0FFNU9UaGJEcW1GaFlmanV1Ky9NNzJsMGREVDI3dDFiYndMUHhka1pISXg2ZUlUWU4rYnU3RncvQWc4QXNyS3k4TmxubjJIdTNMbjQ2cXV2MEtsVEo3Um8wUUpLcGRJOC9GZGNYQXlsVW1rZWlqeHo1Z3lHREJtQ3ExZXZ3c2ZIQnc4KytDREN3c0xRb2tVTGVIbDV3ZFBURSs3dTdsaTllalcrKys0N2hJU0VvTGk0R0s2dXJwWDJuNTJkalZXclZtSGx5cFVJRGc2dXRzNkhIbm9JcTFldk5qOCtlUEFnVENZVFRwMDZoZERRVU1URnhhRno1ODZWd2c0QVRwMDZoVGZlZU1OaVdWRlJFYkt6czVHVWxJU1ZLMWNpS2lvS1AvMzBFL3o4L05DbFN4ZW8xV29jT0hEQTNMN3MrS0szdHplMmI5K094eDkvL0tidjY5bXpaL0haWjUvQno4OFBZOGFNd1pFalIzRGt5QkhzMzc4ZllXRmh5TXZMUTNwNk9ueDhmSkNjbkl3MmJkcVkxelVZRFBqeHh4OHhhOVlzQU1DMWE5Zmc2ZWxwOFdXaFNaTW1LQ3dzaEY2dmg1T1RFOExDd3ZETk45L2N0S2E2NU96aURIQWEwaVRFcm5Gd0RzNXRYUVpRK29mMW5YZmVnVUtoUUhwNk9yWnUzWXArL2ZyaDJyVnJjSGYvOTI5VllXRWhWQ29WVUJvVTZlbnBhTk9tRFE0Y09JQzJiZHRXZTZabHYzNzlvRkFvTUhueVpFeWZQdDNpRE01VHAwN2hvNDgrZ3BPVEU3NzU1aHY0K1BqY3ROWnUzYnBoeG93WnVIVHBFaHdkSFpHWm1ZbGV2WHJoenovL1JHaG9LSTRjT1lJK2ZTclBXV3d5bVpDZG5RMVBUMCtMNVE0T0Ruanh4UmR4NXN3WkRCbzBDRmV2WHNYTW1UTVJHeHVMUzVjdW9WR2pSa2hQVDBlclZxMEFBTHQyN1lLdnJ5OVVLaFYrK09FSDVPWGx3V1F5VlJtd0FLQlNxZkMvLy8wUGdZR0IrT0tMTHpCeTVFaTBiTmtTV1ZsWjhQRHd3TFJwMC9EWFgzOGhMQ3dNbkhQY2M4ODk1blYzN2RvRlQwOVBpS0pvZmcyOHd1K00wV2kwZU55a1NSUGN1SEhqcHU5aFhXS3cvVEhxMjBHQlI0Z1ZNTENjdkR4ZERWcGFsOUZveE9USms1R2RuWTNyMTY5ajh1VEptRFp0R2p3OFBIRGt5QkcwYnQzYTNMYTR1QmlPam80QWdKU1VGRGc1T1NFbkp3ZUhEeDlHWkdRa1pGbkdxRkdqTEk2OWNjN0JHTU9PSFRzd2UvWnNjKzh1S3lzTEsxYXN3SUVEQjlDalJ3OXpMK2RXdkx5OHpEMDVRUkFRRlJXRnJsMjc0c3N2djhUZ3dZT1JtSmlJT1hQbVZGcFBFQVFvbFVvVUZoWldldTc1NTUvSHdJRUQ4ZEpMTHdFQTdyLy9mc1RHeHVMa3laTzRmUGt5cmx5NWdsYXRXcUd3c0JDTEZpM0N5SkVqc1h2M2JzeVpNd2NGQlFVNGRPZ1EzTnlxUGt5Vm5wNk96WnMzNC9MbHk4ak16TVRubjM4T2xBNUZEaDA2Rk4yNmRjT2FOV3Z3OTk5L1YvckNzSDc5ZWd3WU1NRDh1SEhqeHNqT3pyWm9rNVdWQlZkWFYvT3djMkZob2JsSFhoL2s2ZklBaGdaejBTV2RwVW1JRlhER2MvSjB0Zzg4aFVLQjVzMmJZOXEwYVFnSUNNRG5uMytPQlFzV0lDNHVEc2VPSFVOb2FLaTVyVjZ2TndkZTI3WnQwYmR2WDd6MDBrdUlpWWxCZEhRMEFLQkRodzdZc1dPSCtkK0dEUnZNNjVjZnluUjJkb2FmbngrMmJObFM1WWtmaHc4ZnhycDE2NnFzT1NvcUNvY1BIOGJCZ3djUkhSMk55TWhJbkQxN0ZyR3hzUWdKQ2FuMlpCY2ZIeDljdm56WllwbkpaSUxCWUtqVWN3S0FRWU1HNGYvKzcvL3czSFBQQVFBdVhyeUlybDI3bW50aHJxNnU4UGIyeHNXTEZ5djFIQUhnNzcvL0JnQTgvUERES0Nnb3dJSUZDekJpeEFpNHVycWFyMTNzM3IwN2J0eTRnZlhyMTZOZnYzN21kUk1URTVHYW1vcmV2WHVibDRXRWhFQ24weUU1T2RtOExDRWhBZUhoNGViSGx5OWZSdlBtemF0OC9iYVFsNmNEQXdVZUlYYU81ZXAwK1RWb1ozMVRwa3d4RDFWMjY5WU4zMzc3TFVKRFE3RjkrM1k4L2ZTL2MvL3E5WHFMM3NQTEw3K01lKys5Ri9uNStiaDQ4ZUp0N2RQQndRRWpSb3hBa3laVjN4VDczTGx6MEdxMVZUNFhGUlVGV1paeDZ0UXBkT2pRQVU1T1RoQkZFYXRYcjBaVVZGUzErK3pRb1FPT0hEbGlzV3pqeG8xNDhza25MWHBTWlZ4ZFhlSHU3bzY4dkR3b0ZBb0VCZ1ppL1BqeEZtM1MwOU9Sa3BLQ2R1MHFYMXVka0pDQW5UdDN3bUF3UUJBRXhNWEY0ZEtsU3poKy9EZ0dEeTY1TjJweGNUSGMzZDNoNE9BQUZ4Y1g4N3JmZi8rOStWS0VNbjUrZnVqWXNTTSsvL3h6WkdSa1FLdlZZdlBtelJnMGFKQzV6WkVqUnlwZEZtRkxlWGs2Y0U2QlI0aGQ0NmdmUGJ5cXRHelpFc3VXTGNQOTk5K1BnSUFBOC9LOHZEeUxQOHEvL3ZvckxseTRnUEhqeDJQTW1ERklTMHU3by8wNU9UbEJwOU9aanowWmpjWkt3Nm5sQlFVRlFhVlNvVjI3ZHVZQTd0S2xDODZkTzRkdTNicFZ1NTgrZmZyZzU1OS90cmlndm4vLy90aTdkeThHREJpQVAvNzR3M3pOb0pPVEU1UktKWjU3N2puOC9QUFA1a3NGS2w1a3YzcjE2a3E5U2tFUVVGUlVoTFMwTkxSbzBRSlBQLzAwRmk5ZWpFMmJObUhpeElsbzI3WXQ5SG85ZERvZDNuampEWGg0ZU9EUlJ4L0ZpQkVqa0pLU2d1dlhyeU1tSmdaOSsvYXQ5QnBtekpnQnhoaWVmUEpKVEowNkZSTW1UREJmNEo2UmtZRS8vdmdEVHp6eHhHMjkvOWJDT1lldTVCck9YRnZYVWxOMERJOFFLeEE0Kzhkb05PTHExV3RvMXN6YjF1VlkyTFp0Ry9idDI0ZnZ2dnZPZkhtQms1TVRZbUppekNkdi9QREREMWl5WkFsV3JseUp3TUJBaElXRlFhL1hRNVpsOHl3cktCMHl2QlZmWDEvejVRMHVMaTRvTEN4RWt5Wk44T2FiYjFhN3p2YnQyeTBlRHhnd29NcGVXbm50MnJXREpFbFlzMllOaGcwYlp2SGNvVU9IWURRYWNlN2NPV3pac2dWang0NkZRcUhBenovL1hPMzI5dXpaZzQwYk41b3Y2eWdURWhLQ0R6NzRBQWFEQWUrKyt5NCsvdmhqSER4NEVJOC8vamllZi81NWZQLzk5OWk4ZVRPMmJkdUdlKys5RnpObnpvU0Rnd05tejU2TlFZTUc0WWtubmtEWHJsMnJISnIwOHZMQ3dvVUxxNnhuOGVMRkdEaHdJTHk5NjhmdlUvcVZxMlVuMnR4ZTk5K0dLUEFJc1FLVHdYaENVQ21RZE9ac3ZRcThjK2ZPNGR0dnY4V1hYMzZKeG8wYjQrVEprL2pmLy80SG85R0kxcTFibXk4Z2QzUjB4TUtGQzgzWGhJV0VoRUNXWllpaWlFV0xGcG0zbDVXVmRjc2dFZ1FCaXhZdFFsRlJrWG40cjJKUHFyWk1uVG9WNjlldk4xOVRXR2JyMXExNDU1MTNvRktwTUh2MmJJdlh3RG1Id1dEQWtpVkxFQmIyN3p6SURnNE9lUFRSUjlHelowK0xiWTBkT3hZdnZQQUNuSjJkemRPdlRaZ3d3WHdNYzlLa1NiaCsvVG84UER6UXQyOWY4MlVHVTZaTVFiZHUzZkRnZ3c5Q29WRGMxdXZLeXNwQ216WnRNR1RJa0R0Nlg2d2g2ZlFab09UTDNYRmIxMUpURGV1Y1VrSWFDQyt2SURkWEw2ZnNkeWE5emtZTWY5blc1VmdvTzdQUzNoa01CaGdNQnBoTXBtcER1TGk0Mkh6OGsxaGF0bklWWnM5YllDcktVYnFscGNYWGp3UFd0MERIOEFpeGdveU0wN2tBTHB3K20xeUQxbldMd3E2RVVxbUVrNU1UbkoyZHErMXhVdGhWNzlTWnN3QmpmemVVc0FNRkhpRld4Q0RISFkydjhwUjRRaG95emptT0hJMEg0NmgrM3JWNmlBS1BFQ3ZoSnZ4Nk9UMGRKeE9UYkYwS0liWHErTWxFWExsNkRaeno3VFZvWG05UTRCRmlKY1c4WUN2bk1PN2NFMnZyVWdpcFZidjI3QVVBZzBGbnFQNDAxM3FJQW84UUswazdjeVlEd01GZE1SUjQ1TzZ5SzJZdk9PY0hVbE5QWHJkMUxiZURBbzhRYStLbW4wNmZTWVpHbTJEclNnaXBGUnB0QXM2Y1RRWUR0dGk2bHR0RmdVZUlGUlZ4L1ZvT3JsdTBiS1d0U3lHa1ZpeGF1aElBenkxQ1lkV1RvZFpqRkhpRVdGSHBzT2JpdmZzUDRrVGlLVnVYUThoL2tuRGlKUFllT0FodXdwSkxTVW1adHE3bmRsSGdFV0psK21KaERnZDBDNWVzc0hVcGhQd25DNWVzQUFmWEZmR0N5dmRvYWdBbzhBaXhzdlJrK1JvNFg3Z3JaaS8yeE82emRUbUUzSkhkc2Z1d1orOStnTE1GcFNNWERRNU51VUJJSGZEMzkzZENJNDhUemIyOTd0dTJlUU9hTnExOGZ6VkM2cXZNNjlmeCtMUDljQzBqTTVrWFpJV25wS1RvYlYzVG5hQWVIaUYxSUNVbFJXOHk4cGV2WHNzd2pCdy95ZUlXTm9UVVowVkZSUmc1YmhLdVpXUVdtN2p4cFlZYWRnQndlMU4yRTBMdVdIYm1sWXVOUFp0bHBsKzU4a1JpMG1uMDd2SEliYythVDBoZEtpd3N4T2pYMzhTZmg0L0F5UG5vaTBrSkRlcEM4NHJvMDBaSUhjck92SEswY2RQbXhwUUxGN3RydEFtSTd0WVZqUm8xc25WWmhGU1NrWm1Ka2VNbTR1Q2ZoOEc1NmQwTFNRbGYyTHFtLzRvQ2o1QTZscDE1WmI5SFU1L3NmMUl2OWRqODh5K0NsNmNuMmdZR1FCRG9DQU94UFlQQmlNMC8vNG9SNHlZaStkeDVnNUh6MXk4a0pjeTFkVjIxZ1U1YUljUkdXZ2VyT3d1TXJ3ZllQYjR0V3FELzg4K2laNC91Q0FvTXNIVnB4QTZkUG5NV08zYkZZT1BtbjVCMk9SMEFMcHE0Y2NDRnBPT0hiRjFiYmFIQUk4U0dtamVQY0dua2dWY1lZOFBCV0RnQXVEZzd3N2VGRDl3YnUwTkp4L2lJRlJtTVJtUm41K0R5NVhUbzhrdHZhOGY1Y2M3NWwwVzVxaThiMHIzdWFvSUNqNUI2b25WZ1dBaFRLS0lZWnhHY2NSL0cwSmh6Um9sWFF3b0JMZ0JnTkVGbjYxb2FDc2E0a1hOa004N1NPZVBIWURMdFR6bHpuTzVuUlFnaDlaa29pckdpS05LdEtVaTE2Q2c1SVlRUXUwQ0JSd2doeEM1UTRCRkNDTEVMRkhpRUVFTHNBZ1VlSVlRUXUwQ0JSd2doeEM1UTRCRkNDTEVMRkhpRUVFTHNBZ1VlSVlRUXUwQ0JSd2doeEM1UTRCRkNDTEVMRkhpRUVFTHNBZ1VlSVlRUXUwQ0JSd2doeEM1UTRCRkNDTEVMRkhpRUVFTHNBZ1VlSVlRUXUwQ0JSd2doeEM1UTRCRkNDTEVMRkhpRUVFTHNBZ1VlSVlRUXUwQ0JSd2doeEM1UTRCRkNDTEVMek5ZRkVFTEluWWlNakd6Qk9YK3Q3REhuL0dVQVlJeXRMbHZHR0ZzUkh4OS8yVlkxa3ZxRkFvOFEwaUJGUmthcVRDYlRWY2FZUjFYUGM4NnpCRUZvRmg4ZlgxejMxWkg2aUlZMENTRU5VbW1RYmVXY2czTnVYbDd1OFZZS08xSWVCUjRocE1IaW5HOW1yUEpBRldNTW5QUE5OaW1LMUZzVWVJU1FCaXN2TDI4SDV6eXY0bkxPZVY1ZVh0NE8yMVJGNmlzS1BFSklnNVdjbkZ6SUdOc095NkZNTU1hMkp5Y25GOXE2UGxLL1VPQVJRaG8wbzlGb01heForak1OWjVKS0tQQUlJUTFhY1hIeE5nRDZjb3YwZXIxK213MUxJdlVVQlI0aHBFRkxURXpNQTdBRC81NnNzck4wR1NFV0tQQUlJUTBlNTN4TDJiQW1uWjFKcWtPQlJ3aHA4RGpuV3dFWVN3N3BHYmZhdWg1Q0NDSEVha1JSL0UyU3BOOXRYUWVwdjVTMkxvQVFRbXBENlVYb05HcEZxa1Z6YVJKQ0FBQnRndFd2Y21DUXJldTRVd3hRQVFBSEd1eDBZZ3hZOTNlU2RxV3Q2N2hiVVErUEVBS1VCTVVnZDNmWDZORGdJRnVYWXBjU2swNGpKeWNQQUNqd3JLUmVCbDdyd0xBUXBsQkVNYzRpT09NK2pLRXg1MHhoNjdycUE4YTRrWE5rTTg3U09lUEhZREx0VHpselBNbldkWkc3UTJod0VMNy81a3RibDJHWEJnNGRqc05ING0xZHhsMnRIZ1ZlcE1vL3FIZzRZMndVR0FzSEFCY1haL2kyOElGN1kzY29GWlIzQUdBd0dwR2RuWVBMbDlPaHk4OEhGQXI0QjZzVFRPQ0xMeVlkV3dYQVlPc2FDU0drUHFvWGdlY2ZHUEVBRklaMWpBbjNocmNMeFZOUDlFYTNMZzhpS0REQTFxWFZhNmZQSk9QQUgzL2lsKzIvUnh3L21iaThUWWo2VFc0d0RVazVteEJuNjlvSUlhUytzWG5ndFE1UmoySEEvT2JObTZtbXZmTW1ldmQ4QkZYZDdvTlVGdFEyQUVGdEEvREt5eS9pdDUyN01YM21ad0ZYcjE0NzBEcEUvY2FGVTlyRnRxNlBFRUxxRTV1ZXd0czZTRDFWQUJaMTdkeEo5ZHVXSC9CWXIwY3A3TzRBWXd5UDkrcUIzMzc2QVowNzNhOFNnRVgrd2UzZnNVVXRrWkdSamUvMDdGOVJGQ2RLa3RTbnd2YWNKVW5hRUI0ZWZ1K3QxcGNrS1VNVXhRNTNzdStiQ1EwTjlSRkZNYVdxNTBSUmZFOFV4ZmR1dHI0b2lnOUprc1RWYXZYak4ydW5WcXNESlVsYVcyRlp0Q1JKZEpzYlFtcUJ6WHA0L2tIdFJ6SUJNNTU4ckJmbXpwNEJsZExtbmMwR3I0bUhCNzVldmdnVDM1NktiVHQyeld3VHJNNnM2MU9jVFNiVEhGRVVpMlZaSGgwYUd1cmo2T2g0Z1RIMmQ0Vm16cHh6alN6THo1WmZ5RG4vaFRHMld4VEZ3N0lzcDVVdSt4QkF4dkhqeDgvLzE5cEVVVXhuakRXL1ZUdk8rVmV5TEE5WHE5V0RCRUVZeERsM1pJdzFreVRwMXlxYUI2QWtiRHR4enJObFdSNWMvc25RMEZBSEFFczQ1MXBCRUdZQjJGbmRjVlpCRUo0RWNGYVNwQlVBM0VzWE53TVFJa25TK25MMWFXVlpublg3N3dBaDlzMG1LZU1mR1BFQUU5aUNxSzZkOGZsbm4wQVE2RnJSMnFKU3FmRDVaek9SbTZmRC9vTi9MUElQakVpb3kyTjYxNjVkRysvdDdmMnpLSXBQRnhZV0htR00vYTNSYUlMTHQxR3IxZEdNc2RmTEhvdWllQkNBSDByK21ITUFzaWlLSGdBdWw5M2ZUQlRGSjBxYlQ1TmwrZHM3cVUyVzVaYmxlNThCQVFFS2QzZDNQV1BNSXo0K1hsZXVxUWtsNGIzYlpESWxLQlNLcHB6emRVYWpzVkt2V2FGUXZJYVMrYXhXcUZTcVNrSG02T2k0bERHbXYzNzllcGNtVFpvY0VFVnhsaXpMazZzcGNiREpaQnJJR0hORzZUVmxqTEZJenZsUUFIUEtHbkhPcysvazlSTmk3K284OFB6OS9aMllrcTFwNmR0Q3RXRHVMQW83SzFBb0ZGZ3dkeFllZjdhZnc2VzB5OS80Ky91clUxSlM5RFZZOVQ5TFRVMHRTRTFON1FXQWg0YUcrbkRPL1NvT3lYSE9QUUdrbFQyV1pibHIrZWNsU1pyS09XOGp5L0x3bSswcklpTENUNkZRL0NqTGN1ZlNlUlNCa25EMEJmQjlZV0ZoajhURXhLSnlxeGpMcjUrY25BeEprbEJRVUdDc3F0ZVZrSkJ3RmNEVjBwNHFGd1NocWhuNGl3QmtKU1FrbktqNGhDUkpVd0U4RGVEQmxKUVV2YWVuNTBBQWgwUlJ2Q2pMOG9MeWJkdTNieTl5emh0cnRkcXo3ZHUzYjZ0UUtONHNmYSthTThiOEFieGUrdmk4VnF1ZGRyUDNoUkJTdGJydjRUazEvZ0JnZ1I5LytCN2MzZHpxZlBmMnd0M05EUjk5TUJXdmpCd1h4SjA4cGdGNDE5cjdGRVh4TVFDUkFITEsvcUF6eHE0QUdGdStIZWY4QWNaWTM3TEhhclY2aWlBSVE4czFDV0tNblpNa0thbkNlam15TE45ZjlsaXBWQTdrbkYrdUdHU3lMS2RKa3VUaDRPQXd0TFl1NG1XTU5XV01MYXU0bkhOK0w0Q0tQVTRtaXVKTUFDTU5Ca092aElTRVpBRFFhRFRKa2lROXhSamJJWXBpYTFtVzN5cXJYYUZRVE9HY2w5Mmh1eG1BMXB6ek4wcjNVYll2UDBFUTNnTkFnVWZJSGFqVHdQTnQyOVlMRE9ONmRJOUdWTmZPZGJscnUvUndWRmQwajQ1Q3pONTk0MW9HQjgrOWxKU1VhYzM5Y2M3YkNJTFFqWFBlRHNBQ3BWTHB4VGwvZzNQdVdyNGRZK3c4WTJ4WlpHUms0L2o0K0d5dFZqc1R3RXlVaEY4UHh0aHlXWmJibGcwdDNtUi9Rd0Y4VU5WekpwUHBVOGJZUndDK0JtQ1FKT2tBNTd4SlZXMGRIUjJQaUtKb3NTL0cyRHFOUnZOSnVYMWRrV1c1ZDhWMUs1NndFaEVSMFV5aFVLeG1qS2s1NXc4bEpDUWNDdzhQYjZKU3FZNFdGeGQzMUdnMGh5TWlJcm9xbGNwdGtpUTlhalFhWDFjb0ZBV2M4NDRBZE9YMmR5OWp6R0xva3pGbThUNFNRbTVQblFhZUEyczBtWUc1akJ2OVdsM3UxcTVOR0RNU01YdjN1enJBYVNLQXFkYmNsMWFyWFJJWkdma0Q1MXlMa2g3WWVBQytwV2ZlZW5ITy9SbGpmNVcxNTV4bmlhTFlqakUycGR4bW1uSE9qWklrbmFscUg1eno2N0lzMzY5V3F6c0RhSm1ibTF2VmlTVFFhclViUkZHY0pZcmlRRm1XMXpER1hqVVlEQmEvN3dxRlFnRkF5emtmYWpLWkNzby9wMUtwekY4T2xFcWxDWUJidVI3bnZRQXVBakJ3emwwNDUxK1VhenVEYzY3VTYvVlNZbUppT2dBNE9EZ29PT2YzT1RnNEtGQXlWSHBDclZhM1o0eDlJUWhDRjg2NWlqRTJrWFArVWJrU3pqREdQaXhmazhGZ2FLVlFLRDRCSWVTTzFGbmcrYlZyNThsTUdOMDlPZ3Bob1NGMXRWdTdGOTR1Qk5GUlhiRjMzNEZ4clZxRno3bDQ4ZmlOdXRxM1JxTXhmN01SUmZGcHh0aGdqVWJUdjBLend3QytRa252Ym9ZZ0NCMWtXWDc4VnIwN1FSQW1BRmlkbkp4Y1dFMFRBMk5zS1lESkFOYkV4OGRYTmYyYVVwSWtGQlVWbmJyWkhiSkxqK1UxTFhzc1NWS3l3V0NJVGtoSVNLM1lWcS9YVDB4TVROU1ZURTFaUGExV213VmdLQURtNysvdjZPenM3T0hvNkZpK1NTam5mRTc1QlFxRnd2bG0yeVNFM0Z5ZEJaN1NvQmdDZ2JtTkcwVzl1N28yZHVTcjJMdi9vQnR6RmdZRFdGUVgreFJGOFVFQUc4c2VNOGFhY000YmlhTFlwVnl6UTdJczl5MXQvelpqYkFTQUFrbVNFcXZvV21pRUFBQWdBRWxFUVZUYUp1ZDhoU3pMOHlJaUl0cHd6cC9obkFkWDFhNWMrNVVBcGttUzFFdWowZHoyZmRKRVVYd0p3UFFLaTkwNTV4NUtwZktrS0lvV1h4NFlZNmMxR2sydjI5d05UMGxKMFllR2hsWmNmdHhnTUl5c3NIMS9oVUx4K1cxdW54QlNxdTZHTkpuUUp6UTRDTzNEMjlYWkxra0pTUjJCb0xhQlNEcDlwazlkQlY1UlVkRnBoVUxST3lFaDRVUkFRSUM3dTd1N0JzQWx4dGpuR28xbVMxbTcwTkJRVjBkSHgwV01NZEZnTUxRcjdVMlYxQzFKR1FhRFFWMnhKNlZVS2lkenpuL1JhclZWWGd4ZVJwYmxhNUlrYlFMd1BJRGJEcnpTeXgvS1RraGhhclY2UEdQc2tkSVRjM1l5eG81cE5Kb3ZidFdidTBPaVFxRllXMkZaSXl2c2h4QzdVU2ZYQkRTL0w2SVpnSzQ5SCsxZUY3c2pWZWpSUFJvQWkvSnQyOWJMbXZzeG1Vd3VBRHdjSEJ3MFNxV3laV1JrWkFzM043Y2RBQll4eGw3aG5DK1FKT21wc3ZaT1RrNHpBRGpxOWZvdTVjUHVab3FMaTk4ekdBeHYxN0R0T0kxR00rSy92Q1pKa2lJbFNkckRHTHRQbHVYbkdHTUZCb1BoZmM2NUlJcmlIMnExK2hrQXRUcTdPV1BzS09mODJmTC9UQ2JUeUJxc1NnaXBScDMwOEJxcDJIT01RZkhvd3cvVnhlNUlGWG84RW8xRnkxWXFWSEI2Rm9EVjd2OVNlcUgwQmM3NW01enpib0lnZkEzZ0k0MUdzeFFsNGRHWGM3NVJrcVN4blBNVk9UazVieWNuSnhkS2tqUmZGTVhueW0rTGM5NUVvVkFjRWtYUldHNzdoelVhelFBQU4xQXk3Tmk2dEswZjU3d0pZNno4QmVRNGZyenlNY3V3c0xCN2xFcGxMdWU4TGVmY2xKaVlXRkN4RFVxT0tYWmtqTTNobkxmZ25MK3AxV3AvTHYrOExNdnoxR3AxREdOc3ZpaUtLeGhqWDJvMG10bzZNY2hRZXB6UFRKS2szRnJhTmlGMnFVNENqekgybEc4TEg0UUV0NjJMM1pFcWhJV0dvSVZQYzF5K25QNjBOUU5QbzlGczl2UHorNjFaczJhQm5IUEJhRFIyUEhiczJLVnl6eDhPQ0FobzUrYm1OcHh6WGxCMjBvbEdvM2tEd0J0M3NNdnhqTEdKakRFajUvd1hqVVp6K2xZcnFGU3EzeGxqSVFDS09lY3JLbDdIVjRZeGRvbHp2bG1oVUN5Smo0K3Y4aTdhV3ExV0MrRGgwbkM4NllrMk5TRkowaHVjODBrQW1raVNsRnl4ZE01NWMwbVNralVhRGQxS2hKRDZ5RDlZZmVtTnQ2WnlZbHNUSmsvaGJVTGFYN1QxNzRNVnNEdVlzRnE0MDBtdTcxYit3ZXJZQVMrOVl1dGZVN3MxNEtWWHVIK3dPdGJXdndkM002c2Z3L1AzVjNzd0J0KzJBZmRaZTFma0Z0b0czZ2VBM2VNWkVPQmVnK1lOQ2IrREUwZE1WanJaaEJCU1Qxazk4RXdPUEF3QUFnUHJaK0FaalZXT1p0MlZBdThyK1Q5d1V6cUYyYm9XUWdpcGExWVBQSUVoREFEcWF3OXY3ZHExV0xod1lhWGxVNlpNd2ZidDIyKzUvdW5UcHpGczJEQXJWVmU3MnBaKzZSQ2dwR3REU0ozUzZYUll1blFwaW91clBCU0tqaDA3SWkwdHJkTHl3c0pDUFBQTU01QmwyV0w1dG0zYk1IeDQxWE9MNStYbG1lY2Z2VjFyMTY1RlRFeU14VEs5WG85MzNua0hxYW1WNWhrZ0RZelZUMXBoQWxvNnFGVHdhK2xyN1YzZE5vUEJnSTBiTjJMQmdnVTFhQTE4OE1FSHlNcXlPSEVPT3AwTzU4K2Z4NFFKRXlxMTc5ZXZIN3AwNlZKcHVhM2M0OWNTS3BVU1JVWEZmcmU1cWxJVXhTYXlMRit6VW1ua0xxZFNxUkFYRjRlTEZ5L2lrMDgrcWZHTm5wY3VYWXIwOUhRc1g3N2N2Q3dxS2dycjFxMkRVcW5FeUpIL1hxa3hZTUFBUkVkSFkvNzgrVkFxbFpneVpRb3lNakx3eEJOUG9HWExsaGJiMWV2MUNBNE94cng1OHl5V1IwVkZZZFNvVVFnUEQ0ZTN0emNBWVBueTVmRHc4SUNmMysxK2JPb0VmVFp2ZzlVRGozTzR1N201MWNzN21XL2R1aFdTSk1IUHp3K0ppWWtZTy9iZlNmMTFPaDBPSERpQU9YTktabmRxM0xneDVzNmRXK2tiNm9VTEYvRDExMTlqOU9qUmxiYmZ2UGt0N3pWYXB3UkJnS3VMSzY0WFg3L2xNVHgvZjM4bkR3K1BYb3l4NXdBOEJlQVRBSFBycGxKeXQzRndjTUNjT1hNd2NPQkE3TisvSHc4OWRPdExsTmF1WFF1dFZvczllL2JnOWRkZng4U0pFeEVhR29ycDA2Y2pPam9hbzBlUHhvZ1JJekI5K25TMGFkUEd2TjZiYjc2SmlSTW5ZdCsrZldqWHJoMWF0bXlKelpzM1cyejdyNy8rd3JwMTY4eVBodzBiaGl0WHJwZ2ZEeHc0RUxtNXVmRHkrdmV5MVFNSERnQUFSbzBhaFNlZmZQSS92eWQzaWo2YmQ2NHVMa3R3ZDNhdWZ4TkU2SFE2ckY2OUdpdFdyTUQ2OWV1UmxKUmtNWlF4WmNvVWRPdldEWTgvL3ZndHQ5V29VU01FQlFWWnVlTGE0ZXpjQ0RleVdKWDNaYnIzM25zYnU3dTdQMUg2UWVwZGZuWitmcWRqUklTVTh2THl3cnAxNjh3OXAxdkp6OC9IMjIrL2pXWExsc0hGeFFXclZxMkNqNDhQYnR5NEFaVktoU1ZMbHFCeDQ4Wll0MjRkcGs3OTkvSkhKeWNuTEY2OEdJd3haR1JrNE1xVkt4WmZaZ0VnT3p2Ym9vNVZxMVpaUFAvVlYxL2gwcVZMbURhdGZ0eUppVDZidGNQNlE1cUFtNHRML1p2emR1M2F0VkNwVlBqdXUrK3dlL2R1ZlBYVlZ6VmE3NE1QUHNDZmYvNEpaK2VTMTFSY1hJd2JOMjdnbVdlZU1iZTVldlVxVnF4WWdmRHdjS3ZWZjZkY25KM0J3Y3c5dklpSWlHYUNJRHhUK2tGNmhESG1VTzcrYTBESjlXaWdVL2pKZjNIaXhBbm9kQ1Z6QW5oNWVlSGF0V3U0Y2NOeVRvRHo1ODhqTjdmazJucUZRb0hYWG5zTmYvMzFGOUxTMGpCNWNuVTNpUWRlZmZWVjg4OS8vUEVIVHAwNkJSY1hGd3djT0JBQTBMUnBVN3o5dHVYRVBNZVBIOGZ1M2J2TmoxZXRXb1ZmZi8zM3hoc1hMbHlBbjU4Zit2VHBZN0dlaTRzTDFxeFpjNGZ2d3UyaHoyYnRxNE1lSG5NdkM0ZjZKRG82R2kxYnRzVDY5ZXN4Wk1nUStQcjY0bzAzM3NDeFk4ZUFLb1kwaHcwYmhpRkRoZ0FBSmsrZWpGNjlTdVlJUG4zNk5HYlBubTN4RGJIOEI3QytjWFp4QmpqM1VxdlZveGxqUXdGMFpJeXg4aCtrOHNQUDVUNVlvMFJSdE4wNERyRzZIRDIzMnYzMjl1M2JoOVRVVk96Y3VSTnhjWEdJalkxRmJPeS9sNXlaVENhc1dyVUtEZzRPQUFCWFYxZnpaKy8wNmRNM1BjNWV2b056NmRJbHlMS01jK2ZPWWVEQWdjakt5c0trU1pPUW41OXZzWTZmbng5ZWVPRUY1T1hsd2RYVkZjT0dEVE9mZkhiNDhHRjgvUEhIMkxKbEN3U2hUbVpmTkdQZ0tudjliSExPMTJtMTJscTVZWE4xckg4TUQ1eWpIdmE0ZzRLQ2tKR1JBUmNYRnd3YU5BZ0FNSC8rZkZ1WFpYV3M1TXNnQjFCY09nMlhpWE5lN1R5UVpSOHdHalVoLzhXWU1XTUFBRHQzN2dRQTlPL2ZILzM3LzN1bnFJNGRPMkxHakJudzlhMThjcHVibTl0TkR4a2tKQ1NZZis3WHJ4OTY5dXlKQVFNR0FBRFdyMStQYTlkS3p1Zkl5c3BDV2xvYXl0K1p3czNORGVmT25jUFhYMzl0WG5iOStuVUlnb0RubnJPWTZjN00zZDNkYXIyODBzK25QWDQyMWFXdnAyRUhIZ1BMeWN2VDFhQmwzVXBOVGNWNzc3MkhYcjE2NGFPUFBvS2JteHRDUTBQeCsrOVZUNm8vY2VKRTgxbGFuMzc2cWZrYloxWldGdlI2UFhyMTZnV2xzdVR0ek15MDZvM0YvNU04WFI3QWtGbjZUV3FsV3EzMkVBVGh5ZEk3Q3ZRQzBLamlCNmowRjNHcExNdDBZUHd1Vmw5bitmRHg4VUYwZEhTMXoyL2F0S25hNTk1Nzc5OGIwdS9idHcrLy9mWWJaczJhWmRFbVBEd2N6ejc3TEFCZzhlTEZPSFhxRkJZc1dGRG52VHVVeklaUWJJK2ZUVkVVNitSM3ovbzlQTVp6OG5UMUwvQ3lzckxRc1dOSGVIaDR3Ti9mSHlFaElkaXhZd2M4UFQwcmpkdC8rT0dIeU1uSkFRQU1IandZWThlT2hiZTNON1p2MzQ0VksxWWdKeWNIYmR1MnhXZWZmUVluSnlja0pDVEEzOS9mTmkvc0Z2THlkR0JBVHRuajBnbUsxd0pZR3hvYTZ1cmc0UEFZWSt3NXh0aVRBTnpLZmNEdWlxK1JwT0ZKU2txcThsclpNdFgxY0JJU0V2RFdXMitaSCtmbTVrS3YxNk5rK3RNU0VSRVIrUFRUVHdFQXExZXZ4dWJObStIbzZJZ1hYbmloeW0zMjZkUEhmR2pEMnVpeldmdnE0aGhlcms2WFg0TjJkU3NzTE16OGkyNHltWER4WXNrVWs5N2UzcWg0TTg1R2pmNDl5N1J0MjdiZ25HUHg0c1U0ZXZRbzNuLy9mU3hldkJoUFB2a2toZzhmam84Ly9oZ1JFUkYxL0dwcUxpOVBCODcvRGJ6eVN1LzZ2UkhBeG9DQUFFZDNkL2VlblBQbkdHTlAwNEZ4VXB0eWMzT1JtcHFLa0pDUWF0c1lqVWI0K3ZwaTZ0U3BNQmdNS0Nnb1FNK2VQYzNQSHoxNkZLbXBxWWlLaW9MQllJQWdDQmE5c3RhdFcyUFJva1VJQ0FoQVhsNGVCZzhlREc5dmJ3d2VQQmdQUC95d3VWMStmajVtejU2TjA2ZFBZK1BHamZEMDlEUS8xNzE3ZDN6Ly9mYzJ2OFNJUHB1MW95Nk80ZFhMSHQ2cFU2ZXdmLzkrSER0MkRDZE9uRUJ3Y0RBaUl5TnZ1ZDZKRXljd1o4NGN0R2pSQXN1V0xjT0ZDeGNBQUwxNjlVS1RKazB3YXRRb1BQUE1NM2p4eFJkUjMwN1c0WnhEVjNMdy9wYTNtU205aThFdnBmK1VrWkdSSG5WU0pMbHJsZlZJWW1KaU1HL2VQSXdlUGZxbWdUZDU4bVJrWjJjREFNNmRPd2R2YjIrTDRjdnIxNitqb0tBQUxWdTJ4TFp0Mi9ESUk0OWc4T0RCS0Nnb1FHNXVMZ1lOR29UMzNuc1BIaDRlbUR4NU12cjM3NDl1M2JyaHRkZGVnMEtoUUZSVUZBQmd5WklsS0NvcXdxcFZxK3JkWjdZcTlObThjMVlQUElHemY0eEdJNjVldllabXpXcDIvVTFkU0U1T1JrNU9EcDUvL25sOC9QSEhhTktrQ1pZdlg0NjFhOWRpeTVZdEZtM0xUcC8rK09PUHNYdjNicnp4eGh0NCt1bW5LMjN6L3Z2dng1bzFhL0RwcDUvaXNjY2V3OHlaTTlHNWMrYzZlMDIza243bEtrd21FempudDN2SEJFTjhmSHlHbGNvaWR1TE1tVE5BYWNETW5Ea1RvaWpldFAzOCtmTmhOQnF4WThjT0xGbXlCRjkvL1RYYzNQNjloSFRyMXEwNGMrWk1wVXNXVHAwNmhSWXRXdUQxMTErSFJxUEJoeDkraU9IRGg2TnYzNzVBNlRINHQ5NTZDeHMyYkVDZlBuMHdmdng0T0RnNFlPN2N1WldtRmN2SnljSExMNzlzMFhPTWlJakF6Smt6YStVOXFRWDAyYndOVmc4OGs4RjRRbEFwa0hUbWJMMEt2S2VlZWdwUFBmVlVwZVZEaGd6QmlCR1dOOGdlT25Rb0FPRGhoeC9HNk5HajBhUkprMnEzMjdScFU4eWVQUnVuVHAzQ3ZmZmVhNFhLNzF6UzZaSS9PQUpueDIxZEM3RS9IaDRlR0R4NE1FYVBIZzBuSjZkYnRpOG9LTUNBQVFQUXVuVnJMRm15eENMc2JxWjc5KzdvM0xrei92bm5IM0RPc1diTkdqUnIxc3o4ZkhoNE9EWnUzSWlmZnZvSmpvNk81a3NoSmsyYWhFbVRKdjJIVjBqc25wZFhrSnQvY0h2VHNwVmYyL3AyVTNadjZZcXZ1SDl3ZTZPdmIyVDlIN2NoZGE0KzNnK3Z1TGpZMWlYVUdYdStINTRvaXJGMWNhYW0xYys3emNnNG5Rdmd3dW16RlcvZVRPcmFxVE5uQWNiK1RrdUxyMzluRVJGU2hiSkxmUWlwRFhWem9RbURISGMwL202NVFMSkI0cHpqeU5GNE1BNjVCczBKSWVTdVV5ZUJ4MDM0OVhKNk9rNG1KdFhGN2tnVmpwOU14SldyMThBNXYvVk4vZ2doNUM1VUo0Rlh6QXUyY2c3anpqMTJPVHhkTCt6YXN4Y0FEQWFkNFdkYjEwSUlJYlpRSjRHWGR1Wk1Cb0NEdTJJbzhHeGxWOHhlY000UHBLYWV2RzdyV2dnaHhCYnFickk0YnZycDlKbGthTFFKTldoTWFwTkdtNEF6WjVQQmdDMDFhRTRJSVhlbE9ndThJcTVmeThGMWk1WlpkVEpzVW9WRlMxY0M0TGxGS0Z4WGcrYkV5dno5L1ozOC9QenEzMTJSQ2JuTDFWbmdsUTVyTHQ2Ny95Qk9KSjZxcTkzYXZZUVRKN0gzd0VGd0U1WmNTa3F5NlcwYzFHcjFIVTJCRkJ3YzNGUVV4ZThpSXkydkh4UkY4WGxSRktmWFdvSC9rU1JKVDBxUzFQMVc3VHc5UFlkNmUzdWI3ejRxaXVJbVNaTEczbnd0UXNoL1ZhY1h1ZWlMaFRsT0tqNW00WklWTHNzWDNmMzNucXNQRmk1WkFRNnVLK0lGYzJ4WlIwUkVSQnZHMklHSWlJamVDUWtKSjBSUlhBYmdLY1pZeFhrOVc1bE1wczdhY2xQYUp5VWxaWXFpbUdrMEdtY0FtRmk2dldZQTVwaE1Kb3NiWDRxaXVCZEFjRTNyTXBsTUF4VUt4VURPZWMveXl4bGpycHh6SndBVnAyM1N5YkxjcnFwdGNjNGRBWHdFNEtaelpuSE9Yd1N3dkxyblJWSHNJQWhDWG54OFBKM1dURWd0cXRQQVMwK1dyL2tIdDErNEsyYnZPM3RpOStHUmh4K3F5OTNibmQyeCs3Qm43MzZBc3dXbFBXeWJTVWhJK0Z1U3BKRUtoV0laZ0c2bGl5ZHBOSnIxNWR1VkJsYlp6eThBTUFjMVl3eWlLSTRCa0FXZ0FBQUVRZGdtaWlJWVk5YzFHbzNFT1g5V29WQlkvRjRiRElibWdpQWM1cHkvclZBb2Zpai9uQ0FJMmZIeDhaWE9wbEtyMVM4enhxSmxXWDY1cXRjalNkTHZuUFB5d2VkZFdsZXhLSXFGQUxJQkZKV3IvUldOUnZONysvYnQ3d2NRVUZoWXVMNnE3Ylp2Mzc0bFkrd1hrOGswQndBRkhpRzFxTzZuTWRCbi94OXY1TkYzNm9jejdsTkhoS05wVTg4YXJFUnVWK2IxNjVqNndVY0FrQXg5VnIwWTl0Tm9OTDhDMkZidS9sM3ZTSkprRVNpY2MvTzlsV1JaM2dUQVBEMSs2VzFScmhVVkZYVTRjZUxFUDFYdG8vUWVZaFpFVVZ6R0dFdVZaWGs1QUdOVjYwbVM5QnJuZkh5NVJSNEFYRVJSUEZIK0pjaXkvRkxwYStrRkFKR1JrY0h4OGZGSmtpUWROcGxNSTdWYXJWWVV4WU9Nc2NrR2crRkdRa0xDNmZMN0VRVGgvd0RzU1V4TUxFSUY3ZHExODFRb0ZMOXd6bjl0NkRmMEpLUStxdlBBUzBsSjBiZHEyLzdscTljeVlrZU9uNlJjdDNvRlZDcFZYWmR4VnlzcUtzTEljWk53TFNPejJNU05MMTFJU2RIYnNwNklpQWdYaFVMeEJrb0M3ZGV5NFVyTytkZU1zVzBWbW45WDlrTlFVSkNiaTR2TDBYTFBlUUV3T1RnNDdKSWt5V0lsenZrbnNpeC9XM0hmb2lnT1k0dzl6emwvdkxxd0sxMi9HZWY4SjYxVyt4NnE2T0dwMWVwb3h0aU1DdHQrMUdReXJSYXJtZlpmb1ZCOExrblNSWTFHTXdxQVNaS2szZ0I2bDMrTlpVd21rNCtqbytOZXp2bmZzaXlQcXE1T1FzaWRzOGxFZFJmUEhEdll1bTNFaEhoWnUzalVoTWxZOHZsbjVobkx5WDlUV0ZpSTBhKy9pWGhaQ3lQbll5OG1IVDlrNjVvRVFWQXh4anFWRGdHbWg0ZUhYK0NjLzhnNUx6Q1pUSzRWbWs4M0dvMUdBRGg5K25SdStlTnhvaWord1JqN1VxUFJmRjJUL2FyVjZpNEFscFlPRFk1U3E5V25HR090WlZuZVYwMmRqdVZPckhFRzRGRDJXQkFFMS9KVDQ0bWkrQ2hqN0ZzQVQyazBtbXNWQXhnbE56QjlRYUZRL0M2SzR1cnM3T3h4cGNmdFlpbzFMQm55bkFKZ3FTekxFMjRXeklTUU8yZXptVmt2bkVsWTBqcW92V2ZNM3YwZkRSczVEZ3ZteklLblovVzMzU0czbHBHWmlmR1Qzc0hoSTMrQmM5TzdGNU1TVnRpNkp2dzd6UGlrSkVtTE9PZFFLQlR0QlVHWVVQWTg1N3d6WSt3RVVISW5kc2JZZVFEakpVazZCc0NsdEptS2MrN0hPVzhwU2RMVWFuYjFvVWFqV1l1U0ljcE9uUE5mQVh4dE1wa09DNEl3Z0hNZUNtQ3RKRWtiR1dOdnhjZkhaMWRZdng5anJHTnBEVDZjY3cvRzJFK2xOWG9BeUN2WGRpRG4vSGxabHVOUjBrTmJ3Qmk3VkxydXZLS2lvcjlQbkRpaEN3Z0llTnpkM1gybHE2dHJEd0FIQUJ3RzBBa0FRa05ESFp5Y25ON2xuRDhGWUlsR294bFhlKzg2SWFRaW0wNUZmdUgwc1JuK1FlcThQdzRkbWRQcjZSY1VVeWEvam1lZWVod0toY0tXWlRVNEJvTVJQLzJ5RFRQbnpNZU5HMWtHSStjVEx5WWxMTFIxWGRYUmFyVjdBWmhQVHBFa1NRTmdoRWFqc2JoZVJhUFJ0RWZKa0tpZlVxbjhFMEQzNm5wbjViVnYzNzRuNS94SHh0aFBHbzFtdEZxdGZxbDB2OXRGVVF3RHNOeGtNaVdxMWVyUldxM1dQTldheVdSYVU5TWhUVm1XWHhGRjhTTkprbjRFMElKem5nYUFpNklJempsVUtwV0RKRW5lQm9QQlZhUFI5QWZBQWdJQ2RycTd1NzlVdXIyK2pMRlBBZndOSUlFeGRycktGME1JcVRVMnYvZEd5bW50NTYyRDFVY3lyMmV1bi96dXRIdm1MVnlLL3M4L2k1NDl1aU1vTU1EVzVkVnJwOCtjeFk1ZE1kaTQrU2VrWFU0SGdJc21iaHhRSDRZeGIwWVV4WTBBSGtSSmIwZ0J3QWZBSVZFVXkvZWcrc3F5ZkNnc0xPd2VoVUt4bTNQT0dHUExxeG82QkFDOVhoK1JtSmhvRkVYeEE4YllPNXp6anpRYXpZeHlKOGdBSlVHVkJ1QXB0Vm85V2hDRTc5dTNiejlDRUlTUEFEUVdCSUdKb2pnRTVTNUxFRVV4dW5SVkp3QWVvaWltQUpnbXkvSzNzaXkvRCtCOVVSUTNNc2JPYURTYXFTanB1Yms2T1RsdDU1d3ZTa2hJMEpXdXo1T1RrM1BLNm1lTUZUTEd4bXMwbWw5RVVkeUVDaVJKV21Rd0dPWW1KQ1Q4WFR2dk9pSEU1b0VIQUJlU3RIODJieDRSMHNpRHY1S1dsalo4L3FLbDRmTVhMWVdMc3pOOFcvakF2YkU3bE5UckF3QVlqRVprWitmZzh1VjA2UEpMYjJ2SCtYSE8rWmRGdWFvdjA5SzBEZUZlZDR0a1dlNkxrai9zYndKNGhIUGVWSmJsQndFWXlocVZIaWRid3ptZkxzdnkwckxsa2lTTjVaeXJaVmtlWG42ai92NytUZ0FlTkJxTnZZNGRPM2JUaVZ1MVd1MlN5TWpJMzQ4ZE8vWTNnRFdpS0w1bk1wbWN5bnA0RlpYMThHUlo3bHJ4T1VFUWhwdE1wbDJpS0JwTkp0TVdoVUx4TGVmOEoxbVdxejA3VnBibHJiZDRqNFl3eHBiZW9nMGg1RGJVaThBRGdDdFhFblM0Z2dVQUZyUU9EQXRoQ2tXVUxpOC80a3p5T1IvRzBKaHpSb2tIZ0RGdTVCelpqTE4wenZneG1FejdVODRjYnlqWGE3a3d4dDRHY0FsQXRDaUtyd0I0SlQ4L3Y0dXpzL1AvaWFMNG95QUlMOFhIeDJlSGhvYjZBUGdhd1A5a1dkNVJrNDJucEtUb1UxSlNldFMwbVBqNCtIUC82ZFg4dTUzc2lJaUljVXFsTWthaFVMd1BZTEVzeTlOcXVqNWpyTUJrTXQxYjlqZ2lJdUlCQU02Wm1abm5hNk0rUWtpSmVoTjQ1VjA0ZStJVUFKcC83QzdET1JjQmZNODVQMTUyZ1hsUlVWR1BwSklwenlhSW9yaVljNTRzaXVLWEFCYm01dVlHdUxtNStaUU9JNWJmamhzQUIxRVVIeTIvbkRFMlFLUFJISzdObXR1MWErZXAwK255R1dNaFpSZTdBMEJZV0ZoenBWSVp5UmlMWW93OXhqbHZ4RG1meGhnN3p6bWZKRW5TSlFCN0FNU2JUS2F6akRHNWREaTFLbXNGUWZoQmtxUmhwVDFjZHdDZnBhYW1GbFRUM21vU2swNWo0TkRoTldoSmFsdGlFaDNHdGJaNkdYams3aVFJUXVmNCtQaDhTWkkrTUpsTTg3VmE3ZFp5eDlpTXNpeVBWS3ZWM3dxQzhLeGVyODlJVGs0dUFuQUJnTCt0YW5aMGRKenI2T2dZeFRuWE04Yk13NTBPRGc1ZmNzN2RHV094QUlhVm5hMVpha3Q0ZVBpOUtwWHFNYzU1RjhiWUlBQjlxOXVIUnFQNUhZQkhSRVNFczhGZ1lJbUppZnJ5UTd0MWhZUC9rcE9UaDhOSDRtdlF1djVSQ0NWbjlCcE4wTjI2ZFQzRitLMkd1Z2toaE5nN1VSUmpSVkdrbTI0MlFIWDFmMWQzOThNamhCQkNiSWdDanhCQ2lGMmd3Q09FRUdJWEtQQUlJWVRZQlFvOFFnZ2hkb0VDanhCQ2lGMmd3Q09FRUdJWEtQQUlJWVRZQlFvOFFnZ2hkb0VDanhCQ2lGMmd3Q09FRUdJWEtQQUlJWVRZQlFvOFFnZ2hkb0VDanhCQ2lGMmd3Q09FRUdJWEtQQUlJWVRZQlFvOFFnZ2hkb0VDanhCQ2lGMmd3Q09FRUdJWEtQQUlJWVRZQlFvOFFnZ2hkb0VDanhCQ2lGMmd3Q09FRUdJWEtQQUlJWVRZQlFvOFFnZ2hkb0VDanhCQ2lGMmd3Q09FRUdJWEtQQUlJWVRZQlFvOFFnZ2hkb0VDanhCQ2lGMmd3Q09FRUdJWEtQQUlJWVRZQlFvOFFnZ2hkb0VDanhCQ2lGMmd3Q09FRUdJWEtQQUlJWVRZQlFvOFFnZ2hkb0VDanhCQ2lGMmd3Q09FRUdJWEtQQUlJWVRZQlFvOFFnZ2hkb0VDanhCQ2lGMVEycm9BUWdpNUU1R1JrUzA0NTYrVlBlYWMrd09BSkVrZmxDMWpqSzJJajQrL2JLc2FTZjFDZ1VjSWFhZ3lPT2V2TThZOFVCSnVaY3MvUkVrQVpqSEdQckZoZmFTZW9TRk5Ra2lERkI4Zlh3eGdLK2NjbkhQejhuS1B0NWEySVFTZ3dDT0VOR1NjODgzbGVuWm1qREZ3empmYnBDaFNiMUhnRVVJYXJMeTh2QjJjODd5S3l6bm5lWGw1ZVR0c1V4V3ByeWp3Q0NFTlZuSnljaUZqYkRzc2h6TEJHTnVlbkp4Y2FPdjZTUDFDZ1VjSWFkQ01ScVBGc0dicHp6U2NTU3Fod0NPRU5HakZ4Y1hiQU9qTExkTHI5ZnB0Tml5SjFGTVVlSVNRQmkweE1URVB3QTc4ZTdMS3p0SmxoRmlnd0NPRU5IaWM4eTFsdzVwMGRpYXBEZ1VlSWFUQjQ1eHZCV0FzT2FSbjNHcnJla2o5UklGSENHbnd0RnB0RnVkOEY0QTl4NDhmdjJIcmVrajlSRk9MRVVMdUNxVVhvZE9YZUZJdENqeENpQVgva0loTzRHd2dHR3NOanNhMnJxZW1zdlZRQVNiNEI2c0gyTHFXR21QSUJ1Y1h3UGozS2FjU0R0dTZuTHNkQlI0aHhNdy9SUDBXT0Q1UktoV0tOcTFib1dsVFQxdVhkRmZMekx5T3Z5OWNoTUZnSE9NZm9uNDM1WlQyVTF2WGREZWp3Q09FQUFCYUJZZEhndU9UcnAwZlVNeVpPUjNObXpXemRVbDI0Y3JWYTVnMDVUM0ZIMzhlK2FSVmNQaWVpMG5INDIxZDA5Mkt4cnNKSVFBQWdTbGVkRkFwRlF2bXpxS3dxMFBObTNuamk4OW1RYVZVS0FTdUdHTHJldTVtRkhpRWtETCsvdjZ0MGNURHc5WjEySjJtbmszZzc5OEtZTHkxcld1NW0xSGdFVUpLY0RUMmJFSmhaeXROUFQwQnNDYTJydU51Um9GSENDSEVMbERnRVVJSXNRc1VlSVFRUXV3Q0JSNGhoQkM3UUlGSENDSEVMbERnRVVJSXNRc1VlSVFRUXV3Q0JSNGhoQkM3UUlGSENDSEVMbERnRVVJSXNRc1VlSVFRUXV3Q0JSNGhoQkM3UUlGSENDSEVMbERnRVVJSXNRc1VlSVFRUXV3Q0JSNGg1SzdIT2JkMUNhUWVvTUFqaEZpZFRxZkQwcVZMVVZ4Y1hPWHpIVHQyUkZwYVdxWGxoWVdGZU9hWlp5RExzc1h5YmR1Mllmanc0VlZ1S3lVbEJhKysrcXI1Y1VaR0JvWVBIdzZqMFFnQU9IdjJMRWFPSEhuVGV2UHo4L0g1NTUvRFlERFU2UFdSaGtGcDZ3SUlJWGMvbFVxRnVMZzRYTHg0RVo5ODhna1lZelZhYituU3BVaFBUOGZ5NWN2Tnk2S2lvckJ1M1Rvb2xVcUw0Qm93WUFDaW82TXJiY1BMeXdzdUxpN1lzMmNQZXZic2libHo1NkpYcjE0V2JWSlRVNkhUNlN5V3hjYkd3dEhSRWQyN2Q3ZFkzcng1YzNoNDBKM2hHeUlLUEVLSTFUazRPR0RPbkRrWU9IQWc5dS9majRjZWV1aVc2NnhkdXhaYXJSWjc5dXpCNjYrL2pva1RKeUkwTkJUVHAwOUhkSFEwUm84ZWpSRWpSbUQ2OU9sbzA2Wk5sZHZJejgvSDJMRmprWjJkamUrLy94NXIxNjdGeVpNblVWaFlpUDM3OTJQKy9Qa0FnRm16WmtHbjA2RkpreVlvTEN5RVNxWENmZmZkaDdObnorTHMyYk1vS0NoQW8wYU5BQUI5Ky9iRmd3OCtXTXZ2RUtrTEZIaUVrRHJoNWVXRmRldld3ZHZidTBidDgvUHo4ZmJiYjJQWnNtVndjWEhCcWxXcjRPUGpneHMzYmtDbFVtSEpraVZvM0xneDFxMWJoNmxUcHdJQVhubmxGVnk0Y0FHNXVibm8zYnMzNXMyYmgzZmZmUmNBY1AzNmRjeWFOUXNiTm13QUFJd2FOY3BpZnlOSGpzUUREenlBb1VPSDR0MTMzMFZRVUpENXVVNmRPdUh3NGNPMStHNFFXNkRBSTRSWTNZa1RKOHhEaGw1ZVhyaDI3UnB1M0xoaDBlYjgrZlBJemMwRkFDZ1VDcnoyMm12NDY2Ky9rSmFXaHNtVEoxZTc3ZkxINjc3NjZpdHMyYklGMjdadHc0SUZDK0RzN0l6ejU4K2p1TGdZUnFNUm5IUHpzYnlLTm0vZWpEbHo1dURTcFV0NDY2MjM0T0RnWUg2dXVMZ1lmZnYyQlFCTW5Ub1Zhclg2UDc0anhCWW84QWdoVnJkdjN6NmtwcVppNTg2ZGlJdUxRMnhzTEdKalk4M1BtMHdtckZxMXlod3lycTZ1bURObkRnRGc5T25UV0xCZ1FiWGJybmdHNXA0OWUzRGh3Z1c4OU5KTCtPaWpqekJ5NUVoMDd0d1plcjBlMTY5ZngrclZxd0VBSVNFaEZ1djE2ZFBucGoyOGpSczMxdEs3UVd5RkFqaWZpT0FBQUE1M1NVUkJWSThRWW5Wanhvd0JBT3pjdVJNQTBMOS9mL1R2MzkvOGZNZU9IVEZqeGd6NCt2cFdXdGZOemMwaWZDcEtTRWd3LzN6eDRrVmtabWJDMzk4ZkkwYU1RR1ptSmxxMWFvV1pNMmZpeXBVcm1EQmhBbWJPbkZscEd5YVRDWUx3NzBucjc3enpEaHdkSGYvREt5YjFFUVVlSWFSZTgvSHhxZkxzeXpLYk5tMHkvN3hvMFNJODl0aGpPSERnQURwMDZJQkRodzRoT3pzYmZmcjBRWFoyTm5RNkhmcjA2UU9VSGlOODdMSEhNR0hDQk9UbjU4UFIwUkVaR1JsNDZhV1hFQkFRQUJjWEYvTjI0K0xpY09QR0RUUnAwc1RLcjVaWUV3VWVJYVJlUzBwS3dzS0ZDNnQ5dm14STAyUXlJUzh2RDkyNmRjT0JBd2NBQUE4KytDQzJidDJLNU9Sa3ZQMzIyL0QyOXNiNjllc0JBS3RYcnpiMzZtN2N1SUhDd2tKTW5qd1pKMCtlUlB2MjdTMHVuYmg0OFNKV3JseUpuMzc2eWNxdmxsZ1RCUjRocE03bDV1WWlOVFcxMG5HMDhveEdJM3g5ZlRGMTZsUVlEQVlVRkJTZ1o4K2U1dWVQSGoySzFOUlVSRVZGd1dBd1FCQUV6SjA3RjFldVhMSFl6b0VEQjdCbzBTSzgvLzc3bURWcmxubjUrZlBuMGExYk4rajFlbHk3ZGcyaUtHTDE2dFdZTjI4ZU1qSXlNSFhxVkRScTFBaWJObTNDZDk5OVo3NkVnVFJjRkhpRWtEcFIxaE9MaVluQnZIbnpNSHIwNkpzRzN1VEprNUdkblEwQU9IZnVITHk5dlMyR0w2OWZ2NDZDZ2dLMGJOa1MyN1p0d3lPUFBJTEJnd2VibjA5UFQ4ZVNKVXVRbEpTRXVYUG5taytJK2YvMjdqNDJxbnJQNC9qbmRJYTIxcEkrWGxvZTBrNk5CQnJCMjRGVU43QlV5NVBFaUVUVEJCYTlKQVpDRFd2TWdybVFJclI3alNCeDJZQVBxY2xLSkRTQ3dSalFKcGMwZDdtZ0NiUVc3UU9VZUwxUXRSV0ZWcGd1MENGTTdReS8vYU9sUzBYVzdvYjJUT2YzZnYzRi9IclM4ejFETW0vT09UUEQ4dVhMMWRQVG82dFhyK3JGRjE5VVhWMmQ4dlB6NWZYMnZSeXVXN2RPdTNmdlZrbEppZExTMGpSKy9IaFZWVlVwSlNWbDJKNGJqQXlDQjJCRW5EbHpScEpVV1ZtcDExNTdUWDYvLzMvZGZzZU9IWXBFSXFxcHFWRmxaYVYyNzk2dHNXUEhEdnk4dXJwYVo4NmN1ZU5IRm80ZE82YVVsQlM5Ly83N2lvK1BIemp6MjdWcmw2NWV2YXEwdERRbEpDUm83OTY5V3JSb2ticTZ1dFRTMHFMUFAvOWNSNDRjMFlNUFBxalUxRlI5OXRsbktpOHYxOHlaTTVXYm02dHAwNllwSXlQanJqNDNHQmtFRDhDSVNFMU4xVFBQUEtNMWE5WW9NVEh4TjdlL2Z2MjZsaTFicHR6Y1hGVldWZzZLM1ZDVWxKVDg2bnBTVXBLU2twS2svcy9YWldkbjY3SEhIdE56enowbm44K253c0pDN2QyN1Y1bVptWktrbDE1NlNYVjFkV3BwYVZGdGJhM1dyVnRIOEFCZ05QTk5MVGk2Yk1WS0UwMTZlM3ZkSG1IRUxGdXgwdmltRmh3ZHdsOVZ6UEg3L1VmOWZ2K3dIenYvV3dLQXFIWHp2aHB3TnhBOEFJQVZDQjRBd0FvRUR3QmdCWUlIQUxBQ3dRTUFXSUhnQVFDc1FQQUFBRllnZUFBQUt4QThBSUFWQ0I0QXdBb0VEd0JnQllJSEFMQUN3UU1BV0lIZ0FRQ3NRUEFBOUROZGw2OWNjWHNJYS9VOTk2Ykw3VGxpR2NFRDBNZm9iRnY3T1hVSGcyNVBZcDJyM2QxcWF6OG5HWjExZTVaWVJ2QUFTSkljRS80Z0ZPcUpyTjlZb1VBWEp4b2o1VktnUzM4c0sxY28xQk54Rk5ubjlqeXh6SEY3QUFEUkkyL0s3emNaUjMveWVyMXhlYjRjWmFTbnV6MVNUTHNVQ0tpdDdYdUZJemNpeHR5b2FQLzdxUzF1eitRR3Y5OS9WSkthbXBxS2gzTS9CQS9BSUxsVHA4MXk1RmtxeDhtVlVZcmI4d3lWSjA3M1NsTGtocTY1UGN1UU9ib2lZOXFOSXZ2YnZ6NWQ2L1k0YmhtcDRIbUg4NWNER0gzNlgzaEgzWXZ2U0wxb1l2VGlIaDRBd0FvRUR3QmdCWUlIQUxBQ3dRTUFXSUhnQVFDc1FQQUFBRllnZUFBQUt4QThBSUFWQ0I0QXdBb0VEd0JnQllJSEFMQUN3UU1BV0lIZ0FRQ3NRUEFBQUZZZ2VBQUFLeEE4QUlBVkNCNEF3QW9FRHdCZ0JZSUhBTEFDd1FNQVdJSGdBUUNzUVBBQUFGWWdlQUFBS3hBOEFJQVZDQjRBd0FvRUR3QmdCWUlIQUxBQ3dRTUFXSUhnQVFDc1FQQUFBRllnZUFBQUt4QThBSUFWQ0I0QXdBb0VEd0JnQllJSEFMQUN3UU1BV0lIZ0FRQ3NRUEFBQUZZZ2VBQUFLeEE4QUlBVnZHNFBBQUQvSHpObnpoeHZqRmw5ODdFeHhpZEpNMmJNcUxpNTVqak9melEwTkZ4d2EwWkVGNElIWUxTNlpJejVGOGR4VXRVWHQ1dnIvNnErQUY1MkhHZXJpL01oeW5CSkU4Q28xTkRRMEN1cDJoZ2pZOHpBK2kyUHEvdTNBU1NDQjJBME04WWN1T1hNYm9Eak9ETEdISEJsS0VRdGdnZGcxQW9HZ3pYR21PQXYxNDB4d1dBd1dPUE9WSWhXQkEvQXFOWGEydHJqT000aERiNlVLY2R4RHJXMnR2YTRQUitpQzhFRE1LcEZJcEZCbHpYNy84emxUTnlHNEFFWTFYcDdlLzhzS1hUTFVpZ1VDdjNaeFpFUXBRZ2VnRkh0cTYrK0NrcXEwZis4V2VVdi9XdkFJQVFQd0tobmpEbDQ4N0ltNzg3RW5SQThBS09lTWFaYVVxVHZsbDZrMnUxNUVKMElIb0JScjdtNStiSXg1ajhsL2JXbHBlVy8zSjRIMFltdkZnTVFFL28vaE00LzRuRkhCQTlBVEFpSHc5VnhjWEZtQ0p2Q1VnUVBRRXc0ZmZwMHA5c3pJTG9SUEFDRCtQSWYvQWNaNTUva09Ma3lTbkY3bnBqbTZJcU1hWmRqUG1qNzI2blAzUjRuMWhFOEFBTjgrUVhyWmJUVjYvVjQ4bkp6bEpHUjd2WklNUzBRNk5KMzdkOHJISTc4c3krL1lHUGIzNXBmZDN1bVdFYndBRWlTY3FaT255bWpyZjg0NjJIUDl0ZGVVZGE0Y1c2UFpJWE9ueTdxcGJKTm51TzFKN2JtVEozKzErKy9ibWx3ZTZaWXhUdWFBRWlTNGh6UEgrTEhlRDF2L3ZzMllqZUNzc2I5VG0vODJ6YU44WG84Y2NienJOdnp4REtDQitBbW44K1hxN1RVVkxmbnNFNUdlcHA4dmh6Sk1ibHV6eExMQ0I2QVBrWXA2V25FemkwWjZlbVNuRFMzNTRobEJBOEFZQVdDQndDd0FzRURBRmlCNEFFQXJFRHdBQUJXSUhnQUFDc1FQQUNBRlFnZUFNQUtCQThBWUFXQ0J3Q3dBc0VEQUZpQjRBRUFyRUR3QUFCV0lIZ0FBQ3NRUEFDQUZRZ2VBTUFLQkEvQXFCUU1CdlhoaHgvKzVuYkdtQkdaQjlIUDYvWUFBT3gxNmRJbFBmdnNzN2V0ZDNkM0t6NCtYZ2tKQ1lQV1MwcEt0SHo1Y2dVQ0FSbGp0Ry9mUHQxMzMzM0t5c3BTY25LeTZ1dnIxZGpZcUd2WHJ1bjgrZlA2OXR0dlZWNWVybm56NW8zZ1VTRmFFVHdBcnNuTXpGUk5UYzF0NnhzM2JsUnhjYkVXTEZodzI4K2FtcHEwWjg4ZWViMWVUWjQ4V2Z2MzcxY29GRkp4Y2JFYUd4czFjZUpFelo4L1h4a1pHY3JPenRhOTk5NDdRa2VEYUVmd0FMaXFzN05UVHo3NXBMS3pzd2ZXQW9HQXZ2enlTNzM5OXR0Uy8rWExKNTU0UW12WHJwWGY3MWRUVTVOQ29aRFdyRm1qa3lkUGFzdVdMVnE4ZUxFYUd4czFZOFlNUGZUUVF5NGVFYUlWd1FQZ3V1enNiSDN5eVNjRGp6ZHMyS0JGaXhhcHVMaFlrclIvLzM2ZFAzOWVrblQ4K0hHbHBxYnE0NDgvMXFSSmsvVHV1KzlxM3J4NU9uTGt5SkQyRllsRU5ILytmSldWbFduaHdvV1NwRldyVmlrOVBWMnZ2LzY2Sk9tOTk5NVRjM096M256enpXRTRXcmlGNEFGd1hVZEhoNTUrK3VtQnh6Lzk5Sk5Pbmp5cHQ5NTZTK3EvcC9mNDQ0OUxrazZmUHEyMnRqWk5uRGhSZFhWMW1qWnRtam83T3hVTUJpVko1ZVhsU2t4TVZHOXZyOGFNR2FPY25KeUIzeU5KSG85SHMyZlBWbjE5dlJZdVhLanU3bTU5OTkxM2FtMXRWVGdjbHRmclZYMTkvYTllVGgxdUhrZkpmci8vNklqdjJIMEZrcHFIZXljRUQ0RHJzck96ZGVEQWdZSEh6ei8vdkVwTFMrWDMrNlZmbk9HVmxwWU9iTGR6NTA2dFhMbFNZOGVPbFNSdDJyUkpyNzc2cWdvTEM3Vmt5Ukx0MmJOSHFhbXB0KzJ2cUtoSWI3enhoaVNwdHJaV0R6LzhzTDc1NWh1MXRMUW9QejlmcDA2ZDBpdXZ2RExzeDQwQnpZN2pWQS8zVGdnZUFOZDFkSFJveVpJbEE0ODdPenYxOHNzdmE4eVlNZEl0OS9BazZmRGh3OXExYTVja3FiMjlYY2VQSDVmSDQ5R0NCUXNVQ29WMHp6MzMvT2IrWnMyYXBjMmJONnU5dlYzSGpoM1RvNDgrcXF5c0xOWFcxaW9VQ3Nubjh5a3JLMnZZanZkT0lrYkJwcWFtNGhIZnNTVUlIZ0JYWldWbGFjV0tGY3JKeWRIaXhZdDE3dHc1clY2OVdvY09IUnJZNXNDQkErcm82SkFrelo4L1h4TW1UTkRFaVJOVldscXE3ZHUzeStQeGFQejQ4VnE5ZXZXdm50SDlVbkp5c3Z4K3YycHJhM1hpeEFsdDJMQkI2ZW5wMnJGamg4TGhzT2JNbVRPc3h3eDNFRHdBcmlzb0tORGF0V3ZWMmRtcHMyZlBxckN3Y05EUGI3Mi9aNHpSNXMyYnRYWHJWa25TRjE5OG9ZTUhEMnIzN3QyNmNPR0NKa3lZTUtSOUZoVVY2YU9QUHRMOTk5K3Y1T1JrRlJRVTZJY2ZmdERQUC8rc2lvcUt1M3lFaUFaODB3b0ExODJlUFZzdnZQQ0Mzbm5uSFIwK2ZGaExseTY5NDdhZmZ2cXBNak16TldYS0ZFblNuRGx6bEpTVXBLcXFLdVhsNVNrdWJtZ3ZhMFZGUldwcmE5TWpqendpU2ZKNnZTb3NMTlRseTVmMXdBTVAzS1VqUXpUaERBK0E2eTVjdUtDdXJpNGxKQ1FvTVRGUlpXVmxtanQzcnFaUG42Njh2RHlOR3pkT3ljbkpVdi85dmxXclZza1lvMnZYcnNucjlXcm56cDJxcUtqUVUwODlOZVI5VHBvMFNRME5EWVBXdG0vZmZ0ZVBEZEdENEFGd3pZa1RKN1J0MnpaZHZIaFJjK2ZPVlZWVmxYdyszOEJYaEIwOGVGQS8vdmlqTGw2OHFGQW9wUHo4ZkZWVlZXblBuajFhdjM2OUprK2VyTlRVVkFVQ0FZWEQ0WUhQN1FFQWNFZStxUVZIbDYxWWFVYlM5ZXZYVFgxOXZRbUZRcis1YlNRU01UMDlQU015bHh1V3JWaHBmRk1MYlB3TTNvamhEQStBYXhJVEU0ZjhOV0J4Y1hHS2o0OGY5cGtRdTNqVENnREFDZ1FQQUdBRmdnY0FzQUxCQXdCWWdlQUJBS3hBOEFBQVZpQjRBQUFyRUR3QWdCVUlIZ0RBQ2dRUEFHQUZnZ2NBc0FMQkF3QllnZUFCQUt4QThBQUFWaUI0QVBxWnJzdFhycmc5aExYNm5udlQ1Zlljc1l6Z0FlaGpkTGF0L1p5NmcwRzNKN0hPMWU1dXRiV2ZrNHpPdWoxTExDTjRBQ1JKamdsL0VBcjFSTlp2ckZDZ2l4T05rWElwMEtVL2xwVXJGT3FKT0lyc2MzdWVXT2E0UFFDQTZKRTM1ZmViaktNL2ViM2V1RHhmampMUzA5MGVLYVpkQ2dUVTF2YTl3cEViRVdOdVZMVC8vZFFXdDJlS1pRUVB3Q0M1VTZmTmN1UlpLc2ZKbFZHSzIvUEVORWRYWkV5N1VXUi8rOWVuYTkwZUJ3QUFBQUFBQUFBQUFBQUFBQUFBQUFBQUFBQUFBQUFBQUFBQUFBQUFBQUFBQUFBQUFBQUFBQUFBQUFBQUFBQUFBQUFBQUFBQUFBQUFBQUFBQUFDQS80di9CdTJqLzFnSVhVZnRBQUFBQUVsRlRrU3VRbUNDIiwKCSJUaGVtZSIgOiAiIiwKCSJUeXBlIiA6ICJmbG93IiwKCSJVc2VySWQiIDogIjcxMTI1OTUzOCIsCgkiVmVyc2lvbiIgOiAiMTAiCn0K"/>
    </extobj>
  </extobjs>
</s:customData>
</file>

<file path=customXml/itemProps83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2593</Words>
  <Application>WPS 演示</Application>
  <PresentationFormat>宽屏</PresentationFormat>
  <Paragraphs>95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钾化钨</cp:lastModifiedBy>
  <cp:revision>165</cp:revision>
  <dcterms:created xsi:type="dcterms:W3CDTF">2019-06-19T02:08:00Z</dcterms:created>
  <dcterms:modified xsi:type="dcterms:W3CDTF">2025-11-09T09:28:58Z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E25E57C14B9B42AC8079186921B69872_11</vt:lpwstr>
  </property>
</Properties>
</file>